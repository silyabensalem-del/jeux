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 haut corail"/>
          <p:cNvSpPr/>
          <p:nvPr/>
        </p:nvSpPr>
        <p:spPr>
          <a:xfrm>
            <a:off x="0" y="0"/>
            <a:ext cx="7560309" cy="762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Logo EDLC" descr="logo_edl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54000"/>
            <a:ext cx="1498600" cy="443372"/>
          </a:xfrm>
          <a:prstGeom prst="rect">
            <a:avLst/>
          </a:prstGeom>
        </p:spPr>
      </p:pic>
      <p:sp>
        <p:nvSpPr>
          <p:cNvPr id="4" name="Héro – fond"/>
          <p:cNvSpPr/>
          <p:nvPr/>
        </p:nvSpPr>
        <p:spPr>
          <a:xfrm>
            <a:off x="431800" y="787400"/>
            <a:ext cx="6696709" cy="1346200"/>
          </a:xfrm>
          <a:prstGeom prst="roundRect">
            <a:avLst>
              <a:gd name="adj" fmla="val 13207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Héro – filet corail"/>
          <p:cNvSpPr/>
          <p:nvPr/>
        </p:nvSpPr>
        <p:spPr>
          <a:xfrm>
            <a:off x="635000" y="1041400"/>
            <a:ext cx="50800" cy="8382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Héro – cercle blanc"/>
          <p:cNvSpPr/>
          <p:nvPr/>
        </p:nvSpPr>
        <p:spPr>
          <a:xfrm>
            <a:off x="5629909" y="901700"/>
            <a:ext cx="1117600" cy="1117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ogramme EDLC" descr="symbole_ed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509" y="1079500"/>
            <a:ext cx="614265" cy="762000"/>
          </a:xfrm>
          <a:prstGeom prst="rect">
            <a:avLst/>
          </a:prstGeom>
        </p:spPr>
      </p:pic>
      <p:sp>
        <p:nvSpPr>
          <p:cNvPr id="8" name="Titre principal"/>
          <p:cNvSpPr txBox="1"/>
          <p:nvPr/>
        </p:nvSpPr>
        <p:spPr>
          <a:xfrm>
            <a:off x="812800" y="965200"/>
            <a:ext cx="46990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6408F"/>
                </a:solidFill>
                <a:latin typeface="Poppins"/>
              </a:rPr>
              <a:t>L’assurance sociale et solidaire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6408F"/>
                </a:solidFill>
                <a:latin typeface="Poppins"/>
              </a:rPr>
              <a:t>au service de l’entrepreneuriat</a:t>
            </a:r>
          </a:p>
        </p:txBody>
      </p:sp>
      <p:sp>
        <p:nvSpPr>
          <p:cNvPr id="9" name="Sous-titre"/>
          <p:cNvSpPr txBox="1"/>
          <p:nvPr/>
        </p:nvSpPr>
        <p:spPr>
          <a:xfrm>
            <a:off x="812800" y="1651000"/>
            <a:ext cx="4699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F3F34"/>
                </a:solidFill>
                <a:latin typeface="Poppins"/>
              </a:rPr>
              <a:t>Devenez mécène d’une économie où chacun peut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F3F34"/>
                </a:solidFill>
                <a:latin typeface="Poppins"/>
              </a:rPr>
              <a:t>entreprendre et faire durer son activité !</a:t>
            </a:r>
          </a:p>
        </p:txBody>
      </p:sp>
      <p:sp>
        <p:nvSpPr>
          <p:cNvPr id="10" name="Introduction – filet"/>
          <p:cNvSpPr/>
          <p:nvPr/>
        </p:nvSpPr>
        <p:spPr>
          <a:xfrm>
            <a:off x="431800" y="2336800"/>
            <a:ext cx="38100" cy="939800"/>
          </a:xfrm>
          <a:prstGeom prst="rect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Introduction"/>
          <p:cNvSpPr txBox="1"/>
          <p:nvPr/>
        </p:nvSpPr>
        <p:spPr>
          <a:xfrm>
            <a:off x="584200" y="2311400"/>
            <a:ext cx="6544309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60" b="0" i="0">
                <a:solidFill>
                  <a:srgbClr val="2B2B2B"/>
                </a:solidFill>
                <a:latin typeface="Open Sans"/>
              </a:rPr>
              <a:t>Les créateurs d’entreprise en situation de précarité ou de handicap peuvent rencontrer des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difficultés à accéder aux assurances professionnelles classiques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. Sans protection adaptée, un accident, un litige ou un arrêt de travail peut compromettre l’activité qu’ils ont créée.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60" b="0" i="0">
                <a:solidFill>
                  <a:srgbClr val="2B2B2B"/>
                </a:solidFill>
                <a:latin typeface="Open Sans"/>
              </a:rPr>
              <a:t>Depuis 2007, la Fondation Entrepreneurs de la Cité (EDLC) ouvre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l’accès à une assurance adaptée aux créateurs d’entreprise en situation de vulnérabilité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. Nous agissons là où les offres classiques ne répondent pas aux besoins : au croisement de l’inclusion, de l’emploi et de la pérennité économique.</a:t>
            </a:r>
          </a:p>
        </p:txBody>
      </p:sp>
      <p:sp>
        <p:nvSpPr>
          <p:cNvPr id="12" name="Chiffres clés – fond"/>
          <p:cNvSpPr/>
          <p:nvPr/>
        </p:nvSpPr>
        <p:spPr>
          <a:xfrm>
            <a:off x="431800" y="3429000"/>
            <a:ext cx="6696709" cy="1320800"/>
          </a:xfrm>
          <a:prstGeom prst="roundRect">
            <a:avLst>
              <a:gd name="adj" fmla="val 13461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Chiffre 3 362"/>
          <p:cNvSpPr txBox="1"/>
          <p:nvPr/>
        </p:nvSpPr>
        <p:spPr>
          <a:xfrm>
            <a:off x="431800" y="35306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CB1F"/>
                </a:solidFill>
                <a:latin typeface="Poppins"/>
              </a:rPr>
              <a:t>3 362</a:t>
            </a:r>
          </a:p>
        </p:txBody>
      </p:sp>
      <p:sp>
        <p:nvSpPr>
          <p:cNvPr id="14" name="Chiffre 3 362 – légende"/>
          <p:cNvSpPr txBox="1"/>
          <p:nvPr/>
        </p:nvSpPr>
        <p:spPr>
          <a:xfrm>
            <a:off x="508000" y="38100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entrepreneurs assurés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en 2025</a:t>
            </a:r>
          </a:p>
        </p:txBody>
      </p:sp>
      <p:sp>
        <p:nvSpPr>
          <p:cNvPr id="15" name="Chiffre 2 544"/>
          <p:cNvSpPr txBox="1"/>
          <p:nvPr/>
        </p:nvSpPr>
        <p:spPr>
          <a:xfrm>
            <a:off x="2664036" y="35306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2 544</a:t>
            </a:r>
          </a:p>
        </p:txBody>
      </p:sp>
      <p:sp>
        <p:nvSpPr>
          <p:cNvPr id="16" name="Chiffre 2 544 – légende"/>
          <p:cNvSpPr txBox="1"/>
          <p:nvPr/>
        </p:nvSpPr>
        <p:spPr>
          <a:xfrm>
            <a:off x="2740236" y="38100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personnes formées aux risques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en 2025</a:t>
            </a:r>
          </a:p>
        </p:txBody>
      </p:sp>
      <p:sp>
        <p:nvSpPr>
          <p:cNvPr id="17" name="Chiffre 89 %"/>
          <p:cNvSpPr txBox="1"/>
          <p:nvPr/>
        </p:nvSpPr>
        <p:spPr>
          <a:xfrm>
            <a:off x="4896273" y="35306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CB1F"/>
                </a:solidFill>
                <a:latin typeface="Poppins"/>
              </a:rPr>
              <a:t>89 %</a:t>
            </a:r>
          </a:p>
        </p:txBody>
      </p:sp>
      <p:sp>
        <p:nvSpPr>
          <p:cNvPr id="18" name="Chiffre 89 % – légende"/>
          <p:cNvSpPr txBox="1"/>
          <p:nvPr/>
        </p:nvSpPr>
        <p:spPr>
          <a:xfrm>
            <a:off x="4972473" y="38100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de survie après sinistre</a:t>
            </a:r>
          </a:p>
        </p:txBody>
      </p:sp>
      <p:sp>
        <p:nvSpPr>
          <p:cNvPr id="19" name="Chiffre 11 741"/>
          <p:cNvSpPr txBox="1"/>
          <p:nvPr/>
        </p:nvSpPr>
        <p:spPr>
          <a:xfrm>
            <a:off x="431800" y="41402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CB1F"/>
                </a:solidFill>
                <a:latin typeface="Poppins"/>
              </a:rPr>
              <a:t>11 741</a:t>
            </a:r>
          </a:p>
        </p:txBody>
      </p:sp>
      <p:sp>
        <p:nvSpPr>
          <p:cNvPr id="20" name="Chiffre 11 741 – légende"/>
          <p:cNvSpPr txBox="1"/>
          <p:nvPr/>
        </p:nvSpPr>
        <p:spPr>
          <a:xfrm>
            <a:off x="508000" y="44196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entrepreneurs assurés depuis 2007</a:t>
            </a:r>
          </a:p>
        </p:txBody>
      </p:sp>
      <p:sp>
        <p:nvSpPr>
          <p:cNvPr id="21" name="Chiffre 38 816"/>
          <p:cNvSpPr txBox="1"/>
          <p:nvPr/>
        </p:nvSpPr>
        <p:spPr>
          <a:xfrm>
            <a:off x="2664036" y="41402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38 816</a:t>
            </a:r>
          </a:p>
        </p:txBody>
      </p:sp>
      <p:sp>
        <p:nvSpPr>
          <p:cNvPr id="22" name="Chiffre 38 816 – légende"/>
          <p:cNvSpPr txBox="1"/>
          <p:nvPr/>
        </p:nvSpPr>
        <p:spPr>
          <a:xfrm>
            <a:off x="2740236" y="44196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personnes formées aux risques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depuis 2007</a:t>
            </a:r>
          </a:p>
        </p:txBody>
      </p:sp>
      <p:sp>
        <p:nvSpPr>
          <p:cNvPr id="23" name="Chiffre 350+"/>
          <p:cNvSpPr txBox="1"/>
          <p:nvPr/>
        </p:nvSpPr>
        <p:spPr>
          <a:xfrm>
            <a:off x="4896273" y="4140200"/>
            <a:ext cx="22322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CB1F"/>
                </a:solidFill>
                <a:latin typeface="Poppins"/>
              </a:rPr>
              <a:t>350+</a:t>
            </a:r>
          </a:p>
        </p:txBody>
      </p:sp>
      <p:sp>
        <p:nvSpPr>
          <p:cNvPr id="24" name="Chiffre 350+ – légende"/>
          <p:cNvSpPr txBox="1"/>
          <p:nvPr/>
        </p:nvSpPr>
        <p:spPr>
          <a:xfrm>
            <a:off x="4972473" y="4419600"/>
            <a:ext cx="207983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Open Sans"/>
              </a:rPr>
              <a:t>activités couvertes</a:t>
            </a:r>
          </a:p>
        </p:txBody>
      </p:sp>
      <p:sp>
        <p:nvSpPr>
          <p:cNvPr id="25" name="Chiffres clés – séparateur 1"/>
          <p:cNvSpPr/>
          <p:nvPr/>
        </p:nvSpPr>
        <p:spPr>
          <a:xfrm>
            <a:off x="2664036" y="3606800"/>
            <a:ext cx="7620" cy="965200"/>
          </a:xfrm>
          <a:prstGeom prst="rect">
            <a:avLst/>
          </a:prstGeom>
          <a:solidFill>
            <a:srgbClr val="3350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iffres clés – séparateur 2"/>
          <p:cNvSpPr/>
          <p:nvPr/>
        </p:nvSpPr>
        <p:spPr>
          <a:xfrm>
            <a:off x="4896273" y="3606800"/>
            <a:ext cx="7620" cy="965200"/>
          </a:xfrm>
          <a:prstGeom prst="rect">
            <a:avLst/>
          </a:prstGeom>
          <a:solidFill>
            <a:srgbClr val="3350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hiffres clés – séparateur horizontal"/>
          <p:cNvSpPr/>
          <p:nvPr/>
        </p:nvSpPr>
        <p:spPr>
          <a:xfrm>
            <a:off x="711200" y="4089400"/>
            <a:ext cx="6137909" cy="7620"/>
          </a:xfrm>
          <a:prstGeom prst="rect">
            <a:avLst/>
          </a:prstGeom>
          <a:solidFill>
            <a:srgbClr val="3350A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itre – modèle"/>
          <p:cNvSpPr txBox="1"/>
          <p:nvPr/>
        </p:nvSpPr>
        <p:spPr>
          <a:xfrm>
            <a:off x="431800" y="4927600"/>
            <a:ext cx="6696709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Un modèle qui associe prévention, protection et mobilisation</a:t>
            </a:r>
          </a:p>
        </p:txBody>
      </p:sp>
      <p:sp>
        <p:nvSpPr>
          <p:cNvPr id="29" name="Carte PRÉVENIR – fond"/>
          <p:cNvSpPr/>
          <p:nvPr/>
        </p:nvSpPr>
        <p:spPr>
          <a:xfrm>
            <a:off x="431800" y="5232400"/>
            <a:ext cx="2156036" cy="1663700"/>
          </a:xfrm>
          <a:prstGeom prst="roundRect">
            <a:avLst>
              <a:gd name="adj" fmla="val 9160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Carte PRÉVENIR – accent"/>
          <p:cNvSpPr/>
          <p:nvPr/>
        </p:nvSpPr>
        <p:spPr>
          <a:xfrm>
            <a:off x="609600" y="5232400"/>
            <a:ext cx="1800436" cy="44450"/>
          </a:xfrm>
          <a:prstGeom prst="rect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Picto prévenir – fond"/>
          <p:cNvSpPr/>
          <p:nvPr/>
        </p:nvSpPr>
        <p:spPr>
          <a:xfrm>
            <a:off x="584200" y="5410200"/>
            <a:ext cx="330200" cy="330200"/>
          </a:xfrm>
          <a:prstGeom prst="ellipse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icto prévenir – point"/>
          <p:cNvSpPr/>
          <p:nvPr/>
        </p:nvSpPr>
        <p:spPr>
          <a:xfrm>
            <a:off x="729488" y="5487246"/>
            <a:ext cx="39624" cy="39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icto prévenir – barre"/>
          <p:cNvSpPr/>
          <p:nvPr/>
        </p:nvSpPr>
        <p:spPr>
          <a:xfrm>
            <a:off x="731689" y="5547783"/>
            <a:ext cx="35221" cy="115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Carte PRÉVENIR – titre"/>
          <p:cNvSpPr txBox="1"/>
          <p:nvPr/>
        </p:nvSpPr>
        <p:spPr>
          <a:xfrm>
            <a:off x="1003300" y="5410200"/>
            <a:ext cx="1495636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80">
                <a:solidFill>
                  <a:srgbClr val="26408F"/>
                </a:solidFill>
                <a:latin typeface="Poppins"/>
              </a:rPr>
              <a:t>PRÉVENIR</a:t>
            </a:r>
          </a:p>
        </p:txBody>
      </p:sp>
      <p:sp>
        <p:nvSpPr>
          <p:cNvPr id="35" name="Carte PRÉVENIR – texte"/>
          <p:cNvSpPr txBox="1"/>
          <p:nvPr/>
        </p:nvSpPr>
        <p:spPr>
          <a:xfrm>
            <a:off x="584200" y="5816600"/>
            <a:ext cx="1876636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Des webinaires hebdomadaires, des formations et des interventions auprès des réseaux d’accompagnement pour aider les entrepreneurs à identifier les risques et à choisir les protections adaptées.</a:t>
            </a:r>
          </a:p>
        </p:txBody>
      </p:sp>
      <p:sp>
        <p:nvSpPr>
          <p:cNvPr id="36" name="Carte PROTÉGER – fond"/>
          <p:cNvSpPr/>
          <p:nvPr/>
        </p:nvSpPr>
        <p:spPr>
          <a:xfrm>
            <a:off x="2702136" y="5232400"/>
            <a:ext cx="2156036" cy="1663700"/>
          </a:xfrm>
          <a:prstGeom prst="roundRect">
            <a:avLst>
              <a:gd name="adj" fmla="val 9160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Carte PROTÉGER – accent"/>
          <p:cNvSpPr/>
          <p:nvPr/>
        </p:nvSpPr>
        <p:spPr>
          <a:xfrm>
            <a:off x="2879936" y="5232400"/>
            <a:ext cx="1800436" cy="444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Picto protéger – fond"/>
          <p:cNvSpPr/>
          <p:nvPr/>
        </p:nvSpPr>
        <p:spPr>
          <a:xfrm>
            <a:off x="2854536" y="5410200"/>
            <a:ext cx="330200" cy="330200"/>
          </a:xfrm>
          <a:prstGeom prst="ellipse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icto protéger – bouclier"/>
          <p:cNvSpPr/>
          <p:nvPr/>
        </p:nvSpPr>
        <p:spPr>
          <a:xfrm>
            <a:off x="2942590" y="5481743"/>
            <a:ext cx="154093" cy="187113"/>
          </a:xfrm>
          <a:prstGeom prst="flowChartOffpageConnector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cto protéger – coche (court)"/>
          <p:cNvSpPr/>
          <p:nvPr/>
        </p:nvSpPr>
        <p:spPr>
          <a:xfrm rot="2700000">
            <a:off x="2966804" y="5557689"/>
            <a:ext cx="55033" cy="24214"/>
          </a:xfrm>
          <a:prstGeom prst="roundRect">
            <a:avLst/>
          </a:prstGeom>
          <a:solidFill>
            <a:srgbClr val="EF3F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cto protéger – coche (long)"/>
          <p:cNvSpPr/>
          <p:nvPr/>
        </p:nvSpPr>
        <p:spPr>
          <a:xfrm rot="18600000">
            <a:off x="2993220" y="5540078"/>
            <a:ext cx="93556" cy="24214"/>
          </a:xfrm>
          <a:prstGeom prst="roundRect">
            <a:avLst/>
          </a:prstGeom>
          <a:solidFill>
            <a:srgbClr val="EF3F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arte PROTÉGER – titre"/>
          <p:cNvSpPr txBox="1"/>
          <p:nvPr/>
        </p:nvSpPr>
        <p:spPr>
          <a:xfrm>
            <a:off x="3273636" y="5410200"/>
            <a:ext cx="1495636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80">
                <a:solidFill>
                  <a:srgbClr val="EF3F34"/>
                </a:solidFill>
                <a:latin typeface="Poppins"/>
              </a:rPr>
              <a:t>PROTÉGER</a:t>
            </a:r>
          </a:p>
        </p:txBody>
      </p:sp>
      <p:sp>
        <p:nvSpPr>
          <p:cNvPr id="43" name="Carte PROTÉGER – texte"/>
          <p:cNvSpPr txBox="1"/>
          <p:nvPr/>
        </p:nvSpPr>
        <p:spPr>
          <a:xfrm>
            <a:off x="2854536" y="5816600"/>
            <a:ext cx="1876636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Des solutions assurantielles à tarifs solidaires, couvrant notamment la multirisque professionnelle, la responsabilité civile professionnelle, la santé, la prévoyance et la responsabilité civile décennale. L’assistance juridique est offerte.</a:t>
            </a:r>
          </a:p>
        </p:txBody>
      </p:sp>
      <p:sp>
        <p:nvSpPr>
          <p:cNvPr id="44" name="Carte MOBILISER – fond"/>
          <p:cNvSpPr/>
          <p:nvPr/>
        </p:nvSpPr>
        <p:spPr>
          <a:xfrm>
            <a:off x="4972473" y="5232400"/>
            <a:ext cx="2156036" cy="1663700"/>
          </a:xfrm>
          <a:prstGeom prst="roundRect">
            <a:avLst>
              <a:gd name="adj" fmla="val 9160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Carte MOBILISER – accent"/>
          <p:cNvSpPr/>
          <p:nvPr/>
        </p:nvSpPr>
        <p:spPr>
          <a:xfrm>
            <a:off x="5150273" y="5232400"/>
            <a:ext cx="1800436" cy="44450"/>
          </a:xfrm>
          <a:prstGeom prst="rect">
            <a:avLst/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Picto mobiliser – fond"/>
          <p:cNvSpPr/>
          <p:nvPr/>
        </p:nvSpPr>
        <p:spPr>
          <a:xfrm>
            <a:off x="5124873" y="5410200"/>
            <a:ext cx="330200" cy="330200"/>
          </a:xfrm>
          <a:prstGeom prst="ellipse">
            <a:avLst/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icto mobiliser – pavillon"/>
          <p:cNvSpPr/>
          <p:nvPr/>
        </p:nvSpPr>
        <p:spPr>
          <a:xfrm rot="16200000">
            <a:off x="5223933" y="5509260"/>
            <a:ext cx="132080" cy="110066"/>
          </a:xfrm>
          <a:prstGeom prst="trapezoi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cto mobiliser – arrière"/>
          <p:cNvSpPr/>
          <p:nvPr/>
        </p:nvSpPr>
        <p:spPr>
          <a:xfrm>
            <a:off x="5207423" y="5536776"/>
            <a:ext cx="44026" cy="550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Picto mobiliser – poignée"/>
          <p:cNvSpPr/>
          <p:nvPr/>
        </p:nvSpPr>
        <p:spPr>
          <a:xfrm>
            <a:off x="5223933" y="5586306"/>
            <a:ext cx="26416" cy="6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Picto mobiliser – onde 1"/>
          <p:cNvSpPr/>
          <p:nvPr/>
        </p:nvSpPr>
        <p:spPr>
          <a:xfrm rot="19800000">
            <a:off x="5361516" y="5492750"/>
            <a:ext cx="44026" cy="1540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cto mobiliser – onde 2"/>
          <p:cNvSpPr/>
          <p:nvPr/>
        </p:nvSpPr>
        <p:spPr>
          <a:xfrm>
            <a:off x="5361516" y="5556588"/>
            <a:ext cx="44026" cy="1540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cto mobiliser – onde 3"/>
          <p:cNvSpPr/>
          <p:nvPr/>
        </p:nvSpPr>
        <p:spPr>
          <a:xfrm rot="1800000">
            <a:off x="5361516" y="5620427"/>
            <a:ext cx="44026" cy="1540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Carte MOBILISER – titre"/>
          <p:cNvSpPr txBox="1"/>
          <p:nvPr/>
        </p:nvSpPr>
        <p:spPr>
          <a:xfrm>
            <a:off x="5543973" y="5410200"/>
            <a:ext cx="1495636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80">
                <a:solidFill>
                  <a:srgbClr val="F89410"/>
                </a:solidFill>
                <a:latin typeface="Poppins"/>
              </a:rPr>
              <a:t>MOBILISER</a:t>
            </a:r>
          </a:p>
        </p:txBody>
      </p:sp>
      <p:sp>
        <p:nvSpPr>
          <p:cNvPr id="54" name="Carte MOBILISER – texte"/>
          <p:cNvSpPr txBox="1"/>
          <p:nvPr/>
        </p:nvSpPr>
        <p:spPr>
          <a:xfrm>
            <a:off x="5124873" y="5816600"/>
            <a:ext cx="1876636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Démonstration par la preuve de l'utilité sociale de l'assurance inclusive et son impact sur la société et la vitalité économique des territoires.</a:t>
            </a:r>
          </a:p>
        </p:txBody>
      </p:sp>
      <p:sp>
        <p:nvSpPr>
          <p:cNvPr id="55" name="Écosystème"/>
          <p:cNvSpPr txBox="1"/>
          <p:nvPr/>
        </p:nvSpPr>
        <p:spPr>
          <a:xfrm>
            <a:off x="431800" y="7048500"/>
            <a:ext cx="6696709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2B2B2B"/>
                </a:solidFill>
                <a:latin typeface="Open Sans"/>
              </a:rPr>
              <a:t>EDLC s’appuie sur un écosystème engagé :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France Assureurs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Bpifrance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l’Agefiph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des réseaux d’accompagnement comme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l’Adie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France Active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BGE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 ou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France Travail</a:t>
            </a:r>
            <a:r>
              <a:rPr sz="860" b="0" i="0">
                <a:solidFill>
                  <a:srgbClr val="2B2B2B"/>
                </a:solidFill>
                <a:latin typeface="Open Sans"/>
              </a:rPr>
              <a:t>, ainsi que des assureurs partenaires. Cette coopération réunit les compétences nécessaires autour d’un objectif commun : </a:t>
            </a:r>
            <a:r>
              <a:rPr sz="860" b="1" i="0">
                <a:solidFill>
                  <a:srgbClr val="2B2B2B"/>
                </a:solidFill>
                <a:latin typeface="Open Sans"/>
              </a:rPr>
              <a:t>pérenniser les micro-entreprises nouvellement créées.</a:t>
            </a:r>
          </a:p>
        </p:txBody>
      </p:sp>
      <p:sp>
        <p:nvSpPr>
          <p:cNvPr id="56" name="Titre – impact social"/>
          <p:cNvSpPr txBox="1"/>
          <p:nvPr/>
        </p:nvSpPr>
        <p:spPr>
          <a:xfrm>
            <a:off x="431800" y="7658100"/>
            <a:ext cx="6696709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Un impact social documenté</a:t>
            </a:r>
          </a:p>
        </p:txBody>
      </p:sp>
      <p:sp>
        <p:nvSpPr>
          <p:cNvPr id="57" name="Profil 58 % – fond"/>
          <p:cNvSpPr/>
          <p:nvPr/>
        </p:nvSpPr>
        <p:spPr>
          <a:xfrm>
            <a:off x="431800" y="7962900"/>
            <a:ext cx="1498600" cy="673100"/>
          </a:xfrm>
          <a:prstGeom prst="roundRect">
            <a:avLst>
              <a:gd name="adj" fmla="val 18867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Profil 58 %"/>
          <p:cNvSpPr txBox="1"/>
          <p:nvPr/>
        </p:nvSpPr>
        <p:spPr>
          <a:xfrm>
            <a:off x="431800" y="80645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6408F"/>
                </a:solidFill>
                <a:latin typeface="Poppins"/>
              </a:rPr>
              <a:t>58 %</a:t>
            </a:r>
          </a:p>
        </p:txBody>
      </p:sp>
      <p:sp>
        <p:nvSpPr>
          <p:cNvPr id="59" name="Profil 58 % – légende"/>
          <p:cNvSpPr txBox="1"/>
          <p:nvPr/>
        </p:nvSpPr>
        <p:spPr>
          <a:xfrm>
            <a:off x="482600" y="83693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 femmes</a:t>
            </a:r>
          </a:p>
        </p:txBody>
      </p:sp>
      <p:sp>
        <p:nvSpPr>
          <p:cNvPr id="60" name="Profil 82 % – fond"/>
          <p:cNvSpPr/>
          <p:nvPr/>
        </p:nvSpPr>
        <p:spPr>
          <a:xfrm>
            <a:off x="2032000" y="7962900"/>
            <a:ext cx="1498600" cy="673100"/>
          </a:xfrm>
          <a:prstGeom prst="roundRect">
            <a:avLst>
              <a:gd name="adj" fmla="val 18867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Profil 82 %"/>
          <p:cNvSpPr txBox="1"/>
          <p:nvPr/>
        </p:nvSpPr>
        <p:spPr>
          <a:xfrm>
            <a:off x="2032000" y="80645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3F34"/>
                </a:solidFill>
                <a:latin typeface="Poppins"/>
              </a:rPr>
              <a:t>82 %</a:t>
            </a:r>
          </a:p>
        </p:txBody>
      </p:sp>
      <p:sp>
        <p:nvSpPr>
          <p:cNvPr id="62" name="Profil 82 % – légende"/>
          <p:cNvSpPr txBox="1"/>
          <p:nvPr/>
        </p:nvSpPr>
        <p:spPr>
          <a:xfrm>
            <a:off x="2082800" y="83693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d’anciens demandeurs d’emploi</a:t>
            </a:r>
          </a:p>
        </p:txBody>
      </p:sp>
      <p:sp>
        <p:nvSpPr>
          <p:cNvPr id="63" name="Profil 81 % – fond"/>
          <p:cNvSpPr/>
          <p:nvPr/>
        </p:nvSpPr>
        <p:spPr>
          <a:xfrm>
            <a:off x="431800" y="8737600"/>
            <a:ext cx="1498600" cy="673100"/>
          </a:xfrm>
          <a:prstGeom prst="roundRect">
            <a:avLst>
              <a:gd name="adj" fmla="val 18867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Profil 81 %"/>
          <p:cNvSpPr txBox="1"/>
          <p:nvPr/>
        </p:nvSpPr>
        <p:spPr>
          <a:xfrm>
            <a:off x="431800" y="88392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9410"/>
                </a:solidFill>
                <a:latin typeface="Poppins"/>
              </a:rPr>
              <a:t>81 %</a:t>
            </a:r>
          </a:p>
        </p:txBody>
      </p:sp>
      <p:sp>
        <p:nvSpPr>
          <p:cNvPr id="65" name="Profil 81 % – légende"/>
          <p:cNvSpPr txBox="1"/>
          <p:nvPr/>
        </p:nvSpPr>
        <p:spPr>
          <a:xfrm>
            <a:off x="482600" y="91440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 travailleurs handicapés</a:t>
            </a:r>
          </a:p>
        </p:txBody>
      </p:sp>
      <p:sp>
        <p:nvSpPr>
          <p:cNvPr id="66" name="Profil 48 ans – fond"/>
          <p:cNvSpPr/>
          <p:nvPr/>
        </p:nvSpPr>
        <p:spPr>
          <a:xfrm>
            <a:off x="2032000" y="8737600"/>
            <a:ext cx="1498600" cy="673100"/>
          </a:xfrm>
          <a:prstGeom prst="roundRect">
            <a:avLst>
              <a:gd name="adj" fmla="val 18867"/>
            </a:avLst>
          </a:prstGeom>
          <a:solidFill>
            <a:srgbClr val="E1F5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Profil 48 ans"/>
          <p:cNvSpPr txBox="1"/>
          <p:nvPr/>
        </p:nvSpPr>
        <p:spPr>
          <a:xfrm>
            <a:off x="2032000" y="88392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6B995"/>
                </a:solidFill>
                <a:latin typeface="Poppins"/>
              </a:rPr>
              <a:t>48 ans</a:t>
            </a:r>
          </a:p>
        </p:txBody>
      </p:sp>
      <p:sp>
        <p:nvSpPr>
          <p:cNvPr id="68" name="Profil 48 ans – légende"/>
          <p:cNvSpPr txBox="1"/>
          <p:nvPr/>
        </p:nvSpPr>
        <p:spPr>
          <a:xfrm>
            <a:off x="2082800" y="91440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d’âge moyen</a:t>
            </a:r>
          </a:p>
        </p:txBody>
      </p:sp>
      <p:sp>
        <p:nvSpPr>
          <p:cNvPr id="69" name="Témoignage – fond"/>
          <p:cNvSpPr/>
          <p:nvPr/>
        </p:nvSpPr>
        <p:spPr>
          <a:xfrm>
            <a:off x="3632200" y="7962900"/>
            <a:ext cx="3496309" cy="1447800"/>
          </a:xfrm>
          <a:prstGeom prst="roundRect">
            <a:avLst>
              <a:gd name="adj" fmla="val 10526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émoignage – guillemet (décor)"/>
          <p:cNvSpPr txBox="1"/>
          <p:nvPr/>
        </p:nvSpPr>
        <p:spPr>
          <a:xfrm>
            <a:off x="3784600" y="7988300"/>
            <a:ext cx="381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F3F34"/>
                </a:solidFill>
                <a:latin typeface="Poppins"/>
              </a:rPr>
              <a:t>“</a:t>
            </a:r>
          </a:p>
        </p:txBody>
      </p:sp>
      <p:sp>
        <p:nvSpPr>
          <p:cNvPr id="71" name="Témoignage – cercle photo"/>
          <p:cNvSpPr/>
          <p:nvPr/>
        </p:nvSpPr>
        <p:spPr>
          <a:xfrm>
            <a:off x="6264909" y="8318500"/>
            <a:ext cx="711200" cy="711200"/>
          </a:xfrm>
          <a:prstGeom prst="ellipse">
            <a:avLst/>
          </a:prstGeom>
          <a:solidFill>
            <a:srgbClr val="FFCB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Photo – Amalia Raynal" descr="amalia_ray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59" y="8350250"/>
            <a:ext cx="647700" cy="647700"/>
          </a:xfrm>
          <a:prstGeom prst="rect">
            <a:avLst/>
          </a:prstGeom>
        </p:spPr>
      </p:pic>
      <p:sp>
        <p:nvSpPr>
          <p:cNvPr id="73" name="Témoignage – citation"/>
          <p:cNvSpPr txBox="1"/>
          <p:nvPr/>
        </p:nvSpPr>
        <p:spPr>
          <a:xfrm>
            <a:off x="3810000" y="8255000"/>
            <a:ext cx="2404109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" b="1" i="1">
                <a:solidFill>
                  <a:srgbClr val="26408F"/>
                </a:solidFill>
                <a:latin typeface="Open Sans"/>
              </a:rPr>
              <a:t>“En tant qu’entrepreneure, et d’autant plus dans un contexte de handicap ou de RQTH, la protection sociale peut être extrêment complexe. Grâce à EDLC, j’ai pu assurer mon activité et avancer sereinement dans mon coeur de métier, sans craindre l’imprévu. Avoir l’esprit tranquille est une clé essentielle et EDLC y répond !”</a:t>
            </a:r>
          </a:p>
        </p:txBody>
      </p:sp>
      <p:sp>
        <p:nvSpPr>
          <p:cNvPr id="74" name="Témoignage – auteur"/>
          <p:cNvSpPr txBox="1"/>
          <p:nvPr/>
        </p:nvSpPr>
        <p:spPr>
          <a:xfrm>
            <a:off x="3810000" y="9220200"/>
            <a:ext cx="3191509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1" i="0">
                <a:solidFill>
                  <a:srgbClr val="EF3F34"/>
                </a:solidFill>
                <a:latin typeface="Open Sans"/>
              </a:rPr>
              <a:t>Amalia Raynal, Assistante administrative à domicile</a:t>
            </a:r>
          </a:p>
        </p:txBody>
      </p:sp>
      <p:sp>
        <p:nvSpPr>
          <p:cNvPr id="75" name="Citation président – fond"/>
          <p:cNvSpPr/>
          <p:nvPr/>
        </p:nvSpPr>
        <p:spPr>
          <a:xfrm>
            <a:off x="431800" y="9512300"/>
            <a:ext cx="6696709" cy="660400"/>
          </a:xfrm>
          <a:prstGeom prst="roundRect">
            <a:avLst>
              <a:gd name="adj" fmla="val 23076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Citation président – guillemet (décor)"/>
          <p:cNvSpPr txBox="1"/>
          <p:nvPr/>
        </p:nvSpPr>
        <p:spPr>
          <a:xfrm>
            <a:off x="609600" y="9563100"/>
            <a:ext cx="45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CB1F"/>
                </a:solidFill>
                <a:latin typeface="Poppins"/>
              </a:rPr>
              <a:t>“</a:t>
            </a:r>
          </a:p>
        </p:txBody>
      </p:sp>
      <p:sp>
        <p:nvSpPr>
          <p:cNvPr id="77" name="Citation président – texte"/>
          <p:cNvSpPr txBox="1"/>
          <p:nvPr/>
        </p:nvSpPr>
        <p:spPr>
          <a:xfrm>
            <a:off x="1117600" y="9626600"/>
            <a:ext cx="5807709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1" i="1">
                <a:solidFill>
                  <a:srgbClr val="FFFFFF"/>
                </a:solidFill>
                <a:latin typeface="Open Sans"/>
              </a:rPr>
              <a:t>“Dès son lancement Entrepreneurs de la Cité a dépassé les théories économiques conventionnelles pour ouvrir les portes de l’assurance aux créateurs d’entreprise les plus fragiles.”</a:t>
            </a:r>
          </a:p>
        </p:txBody>
      </p:sp>
      <p:sp>
        <p:nvSpPr>
          <p:cNvPr id="78" name="Citation président – auteur"/>
          <p:cNvSpPr txBox="1"/>
          <p:nvPr/>
        </p:nvSpPr>
        <p:spPr>
          <a:xfrm>
            <a:off x="1117600" y="9956800"/>
            <a:ext cx="5807709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40" b="1" i="0">
                <a:solidFill>
                  <a:srgbClr val="FFCB1F"/>
                </a:solidFill>
                <a:latin typeface="Open Sans"/>
              </a:rPr>
              <a:t>Laurent DES BREST, Président de la Fondation EDLC</a:t>
            </a:r>
          </a:p>
        </p:txBody>
      </p:sp>
      <p:cxnSp>
        <p:nvCxnSpPr>
          <p:cNvPr id="79" name="Pied de page – filet"/>
          <p:cNvCxnSpPr/>
          <p:nvPr/>
        </p:nvCxnSpPr>
        <p:spPr>
          <a:xfrm>
            <a:off x="431800" y="10311130"/>
            <a:ext cx="6696709" cy="0"/>
          </a:xfrm>
          <a:prstGeom prst="line">
            <a:avLst/>
          </a:prstGeom>
          <a:ln w="9525">
            <a:solidFill>
              <a:srgbClr val="EF3F34"/>
            </a:solidFill>
          </a:ln>
        </p:spPr>
      </p:cxnSp>
      <p:sp>
        <p:nvSpPr>
          <p:cNvPr id="80" name="Pied de page"/>
          <p:cNvSpPr txBox="1"/>
          <p:nvPr/>
        </p:nvSpPr>
        <p:spPr>
          <a:xfrm>
            <a:off x="431800" y="10400030"/>
            <a:ext cx="6696709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30">
                <a:solidFill>
                  <a:srgbClr val="EF3F34"/>
                </a:solidFill>
                <a:latin typeface="Open Sans"/>
              </a:rPr>
              <a:t>ENTREPRENEURS DE LA CITÉ</a:t>
            </a:r>
            <a:r>
              <a:rPr sz="680" b="0" i="0" spc="30">
                <a:solidFill>
                  <a:srgbClr val="6B6B6B"/>
                </a:solidFill>
                <a:latin typeface="Open Sans"/>
              </a:rPr>
              <a:t>  •  Prévenir, protéger, pérenniser</a:t>
            </a:r>
          </a:p>
        </p:txBody>
      </p:sp>
      <p:sp>
        <p:nvSpPr>
          <p:cNvPr id="81" name="Numéro de page"/>
          <p:cNvSpPr txBox="1"/>
          <p:nvPr/>
        </p:nvSpPr>
        <p:spPr>
          <a:xfrm>
            <a:off x="6874509" y="10400030"/>
            <a:ext cx="254000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1" i="0">
                <a:solidFill>
                  <a:srgbClr val="6B6B6B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