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hyperlink" Target="mailto:claire.benisti@entrepreneursdelacite.org" TargetMode="External"/><Relationship Id="rId6" Type="http://schemas.openxmlformats.org/officeDocument/2006/relationships/hyperlink" Target="https://www.entrepreneursdelacite.or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eau haut corail"/>
          <p:cNvSpPr/>
          <p:nvPr/>
        </p:nvSpPr>
        <p:spPr>
          <a:xfrm>
            <a:off x="0" y="0"/>
            <a:ext cx="7560309" cy="88900"/>
          </a:xfrm>
          <a:prstGeom prst="rect">
            <a:avLst/>
          </a:prstGeom>
          <a:solidFill>
            <a:srgbClr val="EF3F34"/>
          </a:solidFill>
          <a:ln>
            <a:noFill/>
          </a:ln>
          <a:effectLst/>
        </p:spPr>
        <p:txBody>
          <a:bodyPr rtlCol="0" anchor="ctr"/>
          <a:lstStyle/>
          <a:p/>
        </p:txBody>
      </p:sp>
      <p:sp>
        <p:nvSpPr>
          <p:cNvPr id="3" name="En-tête"/>
          <p:cNvSpPr txBox="1"/>
          <p:nvPr/>
        </p:nvSpPr>
        <p:spPr>
          <a:xfrm>
            <a:off x="3293109" y="190500"/>
            <a:ext cx="3810000" cy="127000"/>
          </a:xfrm>
          <a:prstGeom prst="rect">
            <a:avLst/>
          </a:prstGeom>
          <a:noFill/>
        </p:spPr>
        <p:txBody>
          <a:bodyPr wrap="square" lIns="0" rIns="0" tIns="0" bIns="0" anchor="t">
            <a:noAutofit/>
          </a:bodyPr>
          <a:lstStyle/>
          <a:p>
            <a:pPr algn="r">
              <a:lnSpc>
                <a:spcPct val="120000"/>
              </a:lnSpc>
              <a:spcAft>
                <a:spcPts val="0"/>
              </a:spcAft>
            </a:pPr>
            <a:r>
              <a:rPr sz="650" b="0" i="0" spc="40">
                <a:solidFill>
                  <a:srgbClr val="6B6B6B"/>
                </a:solidFill>
                <a:latin typeface="Open Sans"/>
              </a:rPr>
              <a:t>ENTREPRENEURS DE LA CITÉ  |  FONDATION RECONNUE D’UTILITÉ PUBLIQUE</a:t>
            </a:r>
          </a:p>
        </p:txBody>
      </p:sp>
      <p:pic>
        <p:nvPicPr>
          <p:cNvPr id="4" name="Logo EDLC" descr="logo_edlc_crop.png"/>
          <p:cNvPicPr>
            <a:picLocks noChangeAspect="1"/>
          </p:cNvPicPr>
          <p:nvPr/>
        </p:nvPicPr>
        <p:blipFill>
          <a:blip r:embed="rId2"/>
          <a:stretch>
            <a:fillRect/>
          </a:stretch>
        </p:blipFill>
        <p:spPr>
          <a:xfrm>
            <a:off x="457200" y="330200"/>
            <a:ext cx="1625600" cy="480946"/>
          </a:xfrm>
          <a:prstGeom prst="rect">
            <a:avLst/>
          </a:prstGeom>
        </p:spPr>
      </p:pic>
      <p:sp>
        <p:nvSpPr>
          <p:cNvPr id="5" name="Décor – cercle jaune"/>
          <p:cNvSpPr/>
          <p:nvPr/>
        </p:nvSpPr>
        <p:spPr>
          <a:xfrm>
            <a:off x="5308600" y="787400"/>
            <a:ext cx="1905000" cy="1905000"/>
          </a:xfrm>
          <a:prstGeom prst="ellipse">
            <a:avLst/>
          </a:prstGeom>
          <a:solidFill>
            <a:srgbClr val="FFF5D2"/>
          </a:solidFill>
          <a:ln>
            <a:noFill/>
          </a:ln>
          <a:effectLst/>
        </p:spPr>
        <p:txBody>
          <a:bodyPr rtlCol="0" anchor="ctr"/>
          <a:lstStyle/>
          <a:p>
            <a:pPr algn="ctr"/>
          </a:p>
        </p:txBody>
      </p:sp>
      <p:pic>
        <p:nvPicPr>
          <p:cNvPr id="6" name="Illustration – entrepreneur et maison" descr="entrepreneur_maison.png"/>
          <p:cNvPicPr>
            <a:picLocks noChangeAspect="1"/>
          </p:cNvPicPr>
          <p:nvPr/>
        </p:nvPicPr>
        <p:blipFill>
          <a:blip r:embed="rId3"/>
          <a:stretch>
            <a:fillRect/>
          </a:stretch>
        </p:blipFill>
        <p:spPr>
          <a:xfrm>
            <a:off x="5397500" y="914400"/>
            <a:ext cx="1803400" cy="1665340"/>
          </a:xfrm>
          <a:prstGeom prst="rect">
            <a:avLst/>
          </a:prstGeom>
        </p:spPr>
      </p:pic>
      <p:sp>
        <p:nvSpPr>
          <p:cNvPr id="7" name="Surtitre"/>
          <p:cNvSpPr txBox="1"/>
          <p:nvPr/>
        </p:nvSpPr>
        <p:spPr>
          <a:xfrm>
            <a:off x="457200" y="1219200"/>
            <a:ext cx="4572000" cy="152400"/>
          </a:xfrm>
          <a:prstGeom prst="rect">
            <a:avLst/>
          </a:prstGeom>
          <a:noFill/>
        </p:spPr>
        <p:txBody>
          <a:bodyPr wrap="square" lIns="0" rIns="0" tIns="0" bIns="0" anchor="t">
            <a:noAutofit/>
          </a:bodyPr>
          <a:lstStyle/>
          <a:p>
            <a:pPr algn="l">
              <a:lnSpc>
                <a:spcPct val="120000"/>
              </a:lnSpc>
              <a:spcAft>
                <a:spcPts val="0"/>
              </a:spcAft>
            </a:pPr>
            <a:r>
              <a:rPr sz="900" b="1" i="0" spc="150">
                <a:solidFill>
                  <a:srgbClr val="EF3F34"/>
                </a:solidFill>
                <a:latin typeface="Open Sans"/>
              </a:rPr>
              <a:t>ENTREPRENEURS DE LA CITÉ</a:t>
            </a:r>
          </a:p>
        </p:txBody>
      </p:sp>
      <p:sp>
        <p:nvSpPr>
          <p:cNvPr id="8" name="Titre principal"/>
          <p:cNvSpPr txBox="1"/>
          <p:nvPr/>
        </p:nvSpPr>
        <p:spPr>
          <a:xfrm>
            <a:off x="457200" y="1409700"/>
            <a:ext cx="4762500" cy="1168400"/>
          </a:xfrm>
          <a:prstGeom prst="rect">
            <a:avLst/>
          </a:prstGeom>
          <a:noFill/>
        </p:spPr>
        <p:txBody>
          <a:bodyPr wrap="square" lIns="0" rIns="0" tIns="0" bIns="0" anchor="t">
            <a:noAutofit/>
          </a:bodyPr>
          <a:lstStyle/>
          <a:p>
            <a:pPr algn="l">
              <a:lnSpc>
                <a:spcPct val="100000"/>
              </a:lnSpc>
              <a:spcAft>
                <a:spcPts val="0"/>
              </a:spcAft>
            </a:pPr>
            <a:r>
              <a:rPr sz="2300" b="1" i="0">
                <a:solidFill>
                  <a:srgbClr val="EF3F34"/>
                </a:solidFill>
                <a:latin typeface="Poppins"/>
              </a:rPr>
              <a:t>L’assurance sociale et solidaire au service de l’entrepreneuriat</a:t>
            </a:r>
          </a:p>
        </p:txBody>
      </p:sp>
      <p:sp>
        <p:nvSpPr>
          <p:cNvPr id="9" name="Sous-titre"/>
          <p:cNvSpPr txBox="1"/>
          <p:nvPr/>
        </p:nvSpPr>
        <p:spPr>
          <a:xfrm>
            <a:off x="457200" y="2286000"/>
            <a:ext cx="4699000" cy="406400"/>
          </a:xfrm>
          <a:prstGeom prst="rect">
            <a:avLst/>
          </a:prstGeom>
          <a:noFill/>
        </p:spPr>
        <p:txBody>
          <a:bodyPr wrap="square" lIns="0" rIns="0" tIns="0" bIns="0" anchor="t">
            <a:noAutofit/>
          </a:bodyPr>
          <a:lstStyle/>
          <a:p>
            <a:pPr algn="l">
              <a:lnSpc>
                <a:spcPct val="115000"/>
              </a:lnSpc>
              <a:spcAft>
                <a:spcPts val="0"/>
              </a:spcAft>
            </a:pPr>
            <a:r>
              <a:rPr sz="1100" b="1" i="0">
                <a:solidFill>
                  <a:srgbClr val="26408F"/>
                </a:solidFill>
                <a:latin typeface="Open Sans"/>
              </a:rPr>
              <a:t>Devenez mécène d’une économie où chacun peut entreprendre — et faire durer son activité.</a:t>
            </a:r>
          </a:p>
        </p:txBody>
      </p:sp>
      <p:sp>
        <p:nvSpPr>
          <p:cNvPr id="10" name="Piliers"/>
          <p:cNvSpPr txBox="1"/>
          <p:nvPr/>
        </p:nvSpPr>
        <p:spPr>
          <a:xfrm>
            <a:off x="457200" y="2794000"/>
            <a:ext cx="4762500" cy="203200"/>
          </a:xfrm>
          <a:prstGeom prst="rect">
            <a:avLst/>
          </a:prstGeom>
          <a:noFill/>
        </p:spPr>
        <p:txBody>
          <a:bodyPr wrap="square" lIns="0" rIns="0" tIns="0" bIns="0" anchor="ctr">
            <a:noAutofit/>
          </a:bodyPr>
          <a:lstStyle/>
          <a:p>
            <a:pPr algn="l">
              <a:lnSpc>
                <a:spcPct val="120000"/>
              </a:lnSpc>
              <a:spcAft>
                <a:spcPts val="0"/>
              </a:spcAft>
            </a:pPr>
            <a:r>
              <a:rPr sz="950" b="1" i="0" spc="100">
                <a:solidFill>
                  <a:srgbClr val="26408F"/>
                </a:solidFill>
                <a:latin typeface="Open Sans"/>
              </a:rPr>
              <a:t>PRÉVENIR</a:t>
            </a:r>
            <a:r>
              <a:rPr sz="950" b="1" i="0" spc="100">
                <a:solidFill>
                  <a:srgbClr val="EF3F34"/>
                </a:solidFill>
                <a:latin typeface="Open Sans"/>
              </a:rPr>
              <a:t>  •  </a:t>
            </a:r>
            <a:r>
              <a:rPr sz="950" b="1" i="0" spc="100">
                <a:solidFill>
                  <a:srgbClr val="26408F"/>
                </a:solidFill>
                <a:latin typeface="Open Sans"/>
              </a:rPr>
              <a:t>PROTÉGER</a:t>
            </a:r>
            <a:r>
              <a:rPr sz="950" b="1" i="0" spc="100">
                <a:solidFill>
                  <a:srgbClr val="EF3F34"/>
                </a:solidFill>
                <a:latin typeface="Open Sans"/>
              </a:rPr>
              <a:t>  •  </a:t>
            </a:r>
            <a:r>
              <a:rPr sz="950" b="1" i="0" spc="100">
                <a:solidFill>
                  <a:srgbClr val="26408F"/>
                </a:solidFill>
                <a:latin typeface="Open Sans"/>
              </a:rPr>
              <a:t>PÉRENNISER</a:t>
            </a:r>
          </a:p>
        </p:txBody>
      </p:sp>
      <p:sp>
        <p:nvSpPr>
          <p:cNvPr id="11" name="Introduction – filet"/>
          <p:cNvSpPr/>
          <p:nvPr/>
        </p:nvSpPr>
        <p:spPr>
          <a:xfrm>
            <a:off x="457200" y="3200400"/>
            <a:ext cx="38100" cy="508000"/>
          </a:xfrm>
          <a:prstGeom prst="rect">
            <a:avLst/>
          </a:prstGeom>
          <a:solidFill>
            <a:srgbClr val="EF3F34"/>
          </a:solidFill>
          <a:ln>
            <a:noFill/>
          </a:ln>
          <a:effectLst/>
        </p:spPr>
        <p:txBody>
          <a:bodyPr rtlCol="0" anchor="ctr"/>
          <a:lstStyle/>
          <a:p/>
        </p:txBody>
      </p:sp>
      <p:sp>
        <p:nvSpPr>
          <p:cNvPr id="12" name="Introduction"/>
          <p:cNvSpPr txBox="1"/>
          <p:nvPr/>
        </p:nvSpPr>
        <p:spPr>
          <a:xfrm>
            <a:off x="596900" y="3187700"/>
            <a:ext cx="6506209" cy="558800"/>
          </a:xfrm>
          <a:prstGeom prst="rect">
            <a:avLst/>
          </a:prstGeom>
          <a:noFill/>
        </p:spPr>
        <p:txBody>
          <a:bodyPr wrap="square" lIns="0" rIns="0" tIns="0" bIns="0" anchor="t">
            <a:noAutofit/>
          </a:bodyPr>
          <a:lstStyle/>
          <a:p>
            <a:pPr algn="l">
              <a:lnSpc>
                <a:spcPct val="125000"/>
              </a:lnSpc>
              <a:spcAft>
                <a:spcPts val="0"/>
              </a:spcAft>
            </a:pPr>
            <a:r>
              <a:rPr sz="900" b="0" i="0">
                <a:solidFill>
                  <a:srgbClr val="2B2B2B"/>
                </a:solidFill>
                <a:latin typeface="Open Sans"/>
              </a:rPr>
              <a:t>Depuis 2007, la Fondation Entrepreneurs de la Cité (EDLC) ouvre l’accès à une assurance adaptée aux créateurs d’entreprise en situation de vulnérabilité. Nous agissons là où les offres classiques répondent mal aux besoins : au croisement de l’inclusion, de l’emploi et de la pérennité économique.</a:t>
            </a:r>
          </a:p>
        </p:txBody>
      </p:sp>
      <p:grpSp>
        <p:nvGrpSpPr>
          <p:cNvPr id="16" name="Chiffre clé 3 362"/>
          <p:cNvGrpSpPr/>
          <p:nvPr/>
        </p:nvGrpSpPr>
        <p:grpSpPr>
          <a:xfrm>
            <a:off x="457200" y="3886200"/>
            <a:ext cx="1585277" cy="685800"/>
            <a:chOff x="457200" y="3886200"/>
            <a:chExt cx="1585277" cy="685800"/>
          </a:xfrm>
        </p:grpSpPr>
        <p:sp>
          <p:nvSpPr>
            <p:cNvPr id="13" name="Chiffre 3 362 – fond"/>
            <p:cNvSpPr/>
            <p:nvPr/>
          </p:nvSpPr>
          <p:spPr>
            <a:xfrm>
              <a:off x="457200" y="3886200"/>
              <a:ext cx="1585277" cy="685800"/>
            </a:xfrm>
            <a:prstGeom prst="roundRect">
              <a:avLst>
                <a:gd name="adj" fmla="val 12962"/>
              </a:avLst>
            </a:prstGeom>
            <a:solidFill>
              <a:srgbClr val="FDE8E6"/>
            </a:solidFill>
            <a:ln>
              <a:noFill/>
            </a:ln>
            <a:effectLst/>
          </p:spPr>
          <p:txBody>
            <a:bodyPr rtlCol="0" anchor="ctr"/>
            <a:lstStyle/>
            <a:p/>
          </p:txBody>
        </p:sp>
        <p:sp>
          <p:nvSpPr>
            <p:cNvPr id="14" name="Chiffre 3 362"/>
            <p:cNvSpPr txBox="1"/>
            <p:nvPr/>
          </p:nvSpPr>
          <p:spPr>
            <a:xfrm>
              <a:off x="457200" y="3962400"/>
              <a:ext cx="1585277" cy="304800"/>
            </a:xfrm>
            <a:prstGeom prst="rect">
              <a:avLst/>
            </a:prstGeom>
            <a:noFill/>
          </p:spPr>
          <p:txBody>
            <a:bodyPr wrap="square" lIns="0" rIns="0" tIns="0" bIns="0" anchor="t">
              <a:noAutofit/>
            </a:bodyPr>
            <a:lstStyle/>
            <a:p>
              <a:pPr algn="ctr">
                <a:lnSpc>
                  <a:spcPct val="100000"/>
                </a:lnSpc>
                <a:spcAft>
                  <a:spcPts val="0"/>
                </a:spcAft>
              </a:pPr>
              <a:r>
                <a:rPr sz="1900" b="1" i="0">
                  <a:solidFill>
                    <a:srgbClr val="EF3F34"/>
                  </a:solidFill>
                  <a:latin typeface="Poppins"/>
                </a:rPr>
                <a:t>3 362</a:t>
              </a:r>
            </a:p>
          </p:txBody>
        </p:sp>
        <p:sp>
          <p:nvSpPr>
            <p:cNvPr id="15" name="Chiffre 3 362 – légende"/>
            <p:cNvSpPr txBox="1"/>
            <p:nvPr/>
          </p:nvSpPr>
          <p:spPr>
            <a:xfrm>
              <a:off x="508000" y="4279900"/>
              <a:ext cx="1483677" cy="254000"/>
            </a:xfrm>
            <a:prstGeom prst="rect">
              <a:avLst/>
            </a:prstGeom>
            <a:noFill/>
          </p:spPr>
          <p:txBody>
            <a:bodyPr wrap="square" lIns="0" rIns="0" tIns="0" bIns="0" anchor="t">
              <a:noAutofit/>
            </a:bodyPr>
            <a:lstStyle/>
            <a:p>
              <a:pPr algn="ctr">
                <a:lnSpc>
                  <a:spcPct val="105000"/>
                </a:lnSpc>
                <a:spcAft>
                  <a:spcPts val="0"/>
                </a:spcAft>
              </a:pPr>
              <a:r>
                <a:rPr sz="720" b="0" i="0">
                  <a:solidFill>
                    <a:srgbClr val="2B2B2B"/>
                  </a:solidFill>
                  <a:latin typeface="Open Sans"/>
                </a:rPr>
                <a:t>entrepreneurs assurés</a:t>
              </a:r>
            </a:p>
            <a:p>
              <a:pPr algn="ctr">
                <a:lnSpc>
                  <a:spcPct val="105000"/>
                </a:lnSpc>
                <a:spcAft>
                  <a:spcPts val="0"/>
                </a:spcAft>
              </a:pPr>
              <a:r>
                <a:rPr sz="720" b="0" i="0">
                  <a:solidFill>
                    <a:srgbClr val="2B2B2B"/>
                  </a:solidFill>
                  <a:latin typeface="Open Sans"/>
                </a:rPr>
                <a:t>fin 2025</a:t>
              </a:r>
            </a:p>
          </p:txBody>
        </p:sp>
      </p:grpSp>
      <p:grpSp>
        <p:nvGrpSpPr>
          <p:cNvPr id="20" name="Chiffre clé 2 544"/>
          <p:cNvGrpSpPr/>
          <p:nvPr/>
        </p:nvGrpSpPr>
        <p:grpSpPr>
          <a:xfrm>
            <a:off x="2144077" y="3886200"/>
            <a:ext cx="1585277" cy="685800"/>
            <a:chOff x="2144077" y="3886200"/>
            <a:chExt cx="1585277" cy="685800"/>
          </a:xfrm>
        </p:grpSpPr>
        <p:sp>
          <p:nvSpPr>
            <p:cNvPr id="17" name="Chiffre 2 544 – fond"/>
            <p:cNvSpPr/>
            <p:nvPr/>
          </p:nvSpPr>
          <p:spPr>
            <a:xfrm>
              <a:off x="2144077" y="3886200"/>
              <a:ext cx="1585277" cy="685800"/>
            </a:xfrm>
            <a:prstGeom prst="roundRect">
              <a:avLst>
                <a:gd name="adj" fmla="val 12962"/>
              </a:avLst>
            </a:prstGeom>
            <a:solidFill>
              <a:srgbClr val="E6EAF5"/>
            </a:solidFill>
            <a:ln>
              <a:noFill/>
            </a:ln>
            <a:effectLst/>
          </p:spPr>
          <p:txBody>
            <a:bodyPr rtlCol="0" anchor="ctr"/>
            <a:lstStyle/>
            <a:p/>
          </p:txBody>
        </p:sp>
        <p:sp>
          <p:nvSpPr>
            <p:cNvPr id="18" name="Chiffre 2 544"/>
            <p:cNvSpPr txBox="1"/>
            <p:nvPr/>
          </p:nvSpPr>
          <p:spPr>
            <a:xfrm>
              <a:off x="2144077" y="3962400"/>
              <a:ext cx="1585277" cy="304800"/>
            </a:xfrm>
            <a:prstGeom prst="rect">
              <a:avLst/>
            </a:prstGeom>
            <a:noFill/>
          </p:spPr>
          <p:txBody>
            <a:bodyPr wrap="square" lIns="0" rIns="0" tIns="0" bIns="0" anchor="t">
              <a:noAutofit/>
            </a:bodyPr>
            <a:lstStyle/>
            <a:p>
              <a:pPr algn="ctr">
                <a:lnSpc>
                  <a:spcPct val="100000"/>
                </a:lnSpc>
                <a:spcAft>
                  <a:spcPts val="0"/>
                </a:spcAft>
              </a:pPr>
              <a:r>
                <a:rPr sz="1900" b="1" i="0">
                  <a:solidFill>
                    <a:srgbClr val="26408F"/>
                  </a:solidFill>
                  <a:latin typeface="Poppins"/>
                </a:rPr>
                <a:t>2 544</a:t>
              </a:r>
            </a:p>
          </p:txBody>
        </p:sp>
        <p:sp>
          <p:nvSpPr>
            <p:cNvPr id="19" name="Chiffre 2 544 – légende"/>
            <p:cNvSpPr txBox="1"/>
            <p:nvPr/>
          </p:nvSpPr>
          <p:spPr>
            <a:xfrm>
              <a:off x="2194877" y="4279900"/>
              <a:ext cx="1483677" cy="254000"/>
            </a:xfrm>
            <a:prstGeom prst="rect">
              <a:avLst/>
            </a:prstGeom>
            <a:noFill/>
          </p:spPr>
          <p:txBody>
            <a:bodyPr wrap="square" lIns="0" rIns="0" tIns="0" bIns="0" anchor="t">
              <a:noAutofit/>
            </a:bodyPr>
            <a:lstStyle/>
            <a:p>
              <a:pPr algn="ctr">
                <a:lnSpc>
                  <a:spcPct val="105000"/>
                </a:lnSpc>
                <a:spcAft>
                  <a:spcPts val="0"/>
                </a:spcAft>
              </a:pPr>
              <a:r>
                <a:rPr sz="720" b="0" i="0">
                  <a:solidFill>
                    <a:srgbClr val="2B2B2B"/>
                  </a:solidFill>
                  <a:latin typeface="Open Sans"/>
                </a:rPr>
                <a:t>personnes formées aux risques</a:t>
              </a:r>
            </a:p>
            <a:p>
              <a:pPr algn="ctr">
                <a:lnSpc>
                  <a:spcPct val="105000"/>
                </a:lnSpc>
                <a:spcAft>
                  <a:spcPts val="0"/>
                </a:spcAft>
              </a:pPr>
              <a:r>
                <a:rPr sz="720" b="0" i="0">
                  <a:solidFill>
                    <a:srgbClr val="2B2B2B"/>
                  </a:solidFill>
                  <a:latin typeface="Open Sans"/>
                </a:rPr>
                <a:t>en 2025</a:t>
              </a:r>
            </a:p>
          </p:txBody>
        </p:sp>
      </p:grpSp>
      <p:grpSp>
        <p:nvGrpSpPr>
          <p:cNvPr id="24" name="Chiffre clé 89 %"/>
          <p:cNvGrpSpPr/>
          <p:nvPr/>
        </p:nvGrpSpPr>
        <p:grpSpPr>
          <a:xfrm>
            <a:off x="3830954" y="3886200"/>
            <a:ext cx="1585277" cy="685800"/>
            <a:chOff x="3830954" y="3886200"/>
            <a:chExt cx="1585277" cy="685800"/>
          </a:xfrm>
        </p:grpSpPr>
        <p:sp>
          <p:nvSpPr>
            <p:cNvPr id="21" name="Chiffre 89 % – fond"/>
            <p:cNvSpPr/>
            <p:nvPr/>
          </p:nvSpPr>
          <p:spPr>
            <a:xfrm>
              <a:off x="3830954" y="3886200"/>
              <a:ext cx="1585277" cy="685800"/>
            </a:xfrm>
            <a:prstGeom prst="roundRect">
              <a:avLst>
                <a:gd name="adj" fmla="val 12962"/>
              </a:avLst>
            </a:prstGeom>
            <a:solidFill>
              <a:srgbClr val="FEEFDB"/>
            </a:solidFill>
            <a:ln>
              <a:noFill/>
            </a:ln>
            <a:effectLst/>
          </p:spPr>
          <p:txBody>
            <a:bodyPr rtlCol="0" anchor="ctr"/>
            <a:lstStyle/>
            <a:p/>
          </p:txBody>
        </p:sp>
        <p:sp>
          <p:nvSpPr>
            <p:cNvPr id="22" name="Chiffre 89 %"/>
            <p:cNvSpPr txBox="1"/>
            <p:nvPr/>
          </p:nvSpPr>
          <p:spPr>
            <a:xfrm>
              <a:off x="3830954" y="3962400"/>
              <a:ext cx="1585277" cy="304800"/>
            </a:xfrm>
            <a:prstGeom prst="rect">
              <a:avLst/>
            </a:prstGeom>
            <a:noFill/>
          </p:spPr>
          <p:txBody>
            <a:bodyPr wrap="square" lIns="0" rIns="0" tIns="0" bIns="0" anchor="t">
              <a:noAutofit/>
            </a:bodyPr>
            <a:lstStyle/>
            <a:p>
              <a:pPr algn="ctr">
                <a:lnSpc>
                  <a:spcPct val="100000"/>
                </a:lnSpc>
                <a:spcAft>
                  <a:spcPts val="0"/>
                </a:spcAft>
              </a:pPr>
              <a:r>
                <a:rPr sz="1900" b="1" i="0">
                  <a:solidFill>
                    <a:srgbClr val="F89410"/>
                  </a:solidFill>
                  <a:latin typeface="Poppins"/>
                </a:rPr>
                <a:t>89 %</a:t>
              </a:r>
            </a:p>
          </p:txBody>
        </p:sp>
        <p:sp>
          <p:nvSpPr>
            <p:cNvPr id="23" name="Chiffre 89 % – légende"/>
            <p:cNvSpPr txBox="1"/>
            <p:nvPr/>
          </p:nvSpPr>
          <p:spPr>
            <a:xfrm>
              <a:off x="3881754" y="4279900"/>
              <a:ext cx="1483677" cy="254000"/>
            </a:xfrm>
            <a:prstGeom prst="rect">
              <a:avLst/>
            </a:prstGeom>
            <a:noFill/>
          </p:spPr>
          <p:txBody>
            <a:bodyPr wrap="square" lIns="0" rIns="0" tIns="0" bIns="0" anchor="t">
              <a:noAutofit/>
            </a:bodyPr>
            <a:lstStyle/>
            <a:p>
              <a:pPr algn="ctr">
                <a:lnSpc>
                  <a:spcPct val="105000"/>
                </a:lnSpc>
                <a:spcAft>
                  <a:spcPts val="0"/>
                </a:spcAft>
              </a:pPr>
              <a:r>
                <a:rPr sz="720" b="0" i="0">
                  <a:solidFill>
                    <a:srgbClr val="2B2B2B"/>
                  </a:solidFill>
                  <a:latin typeface="Open Sans"/>
                </a:rPr>
                <a:t>de survie après sinistre</a:t>
              </a:r>
            </a:p>
            <a:p>
              <a:pPr algn="ctr">
                <a:lnSpc>
                  <a:spcPct val="105000"/>
                </a:lnSpc>
                <a:spcAft>
                  <a:spcPts val="0"/>
                </a:spcAft>
              </a:pPr>
              <a:r>
                <a:rPr sz="720" b="0" i="0">
                  <a:solidFill>
                    <a:srgbClr val="2B2B2B"/>
                  </a:solidFill>
                  <a:latin typeface="Open Sans"/>
                </a:rPr>
                <a:t>(données 2025)</a:t>
              </a:r>
            </a:p>
          </p:txBody>
        </p:sp>
      </p:grpSp>
      <p:grpSp>
        <p:nvGrpSpPr>
          <p:cNvPr id="28" name="Chiffre clé 350+"/>
          <p:cNvGrpSpPr/>
          <p:nvPr/>
        </p:nvGrpSpPr>
        <p:grpSpPr>
          <a:xfrm>
            <a:off x="5517832" y="3886200"/>
            <a:ext cx="1585277" cy="685800"/>
            <a:chOff x="5517832" y="3886200"/>
            <a:chExt cx="1585277" cy="685800"/>
          </a:xfrm>
        </p:grpSpPr>
        <p:sp>
          <p:nvSpPr>
            <p:cNvPr id="25" name="Chiffre 350+ – fond"/>
            <p:cNvSpPr/>
            <p:nvPr/>
          </p:nvSpPr>
          <p:spPr>
            <a:xfrm>
              <a:off x="5517832" y="3886200"/>
              <a:ext cx="1585277" cy="685800"/>
            </a:xfrm>
            <a:prstGeom prst="roundRect">
              <a:avLst>
                <a:gd name="adj" fmla="val 12962"/>
              </a:avLst>
            </a:prstGeom>
            <a:solidFill>
              <a:srgbClr val="E1F5EF"/>
            </a:solidFill>
            <a:ln>
              <a:noFill/>
            </a:ln>
            <a:effectLst/>
          </p:spPr>
          <p:txBody>
            <a:bodyPr rtlCol="0" anchor="ctr"/>
            <a:lstStyle/>
            <a:p/>
          </p:txBody>
        </p:sp>
        <p:sp>
          <p:nvSpPr>
            <p:cNvPr id="26" name="Chiffre 350+"/>
            <p:cNvSpPr txBox="1"/>
            <p:nvPr/>
          </p:nvSpPr>
          <p:spPr>
            <a:xfrm>
              <a:off x="5517832" y="3962400"/>
              <a:ext cx="1585277" cy="304800"/>
            </a:xfrm>
            <a:prstGeom prst="rect">
              <a:avLst/>
            </a:prstGeom>
            <a:noFill/>
          </p:spPr>
          <p:txBody>
            <a:bodyPr wrap="square" lIns="0" rIns="0" tIns="0" bIns="0" anchor="t">
              <a:noAutofit/>
            </a:bodyPr>
            <a:lstStyle/>
            <a:p>
              <a:pPr algn="ctr">
                <a:lnSpc>
                  <a:spcPct val="100000"/>
                </a:lnSpc>
                <a:spcAft>
                  <a:spcPts val="0"/>
                </a:spcAft>
              </a:pPr>
              <a:r>
                <a:rPr sz="1900" b="1" i="0">
                  <a:solidFill>
                    <a:srgbClr val="36B995"/>
                  </a:solidFill>
                  <a:latin typeface="Poppins"/>
                </a:rPr>
                <a:t>350+</a:t>
              </a:r>
            </a:p>
          </p:txBody>
        </p:sp>
        <p:sp>
          <p:nvSpPr>
            <p:cNvPr id="27" name="Chiffre 350+ – légende"/>
            <p:cNvSpPr txBox="1"/>
            <p:nvPr/>
          </p:nvSpPr>
          <p:spPr>
            <a:xfrm>
              <a:off x="5568632" y="4279900"/>
              <a:ext cx="1483677" cy="254000"/>
            </a:xfrm>
            <a:prstGeom prst="rect">
              <a:avLst/>
            </a:prstGeom>
            <a:noFill/>
          </p:spPr>
          <p:txBody>
            <a:bodyPr wrap="square" lIns="0" rIns="0" tIns="0" bIns="0" anchor="t">
              <a:noAutofit/>
            </a:bodyPr>
            <a:lstStyle/>
            <a:p>
              <a:pPr algn="ctr">
                <a:lnSpc>
                  <a:spcPct val="105000"/>
                </a:lnSpc>
                <a:spcAft>
                  <a:spcPts val="0"/>
                </a:spcAft>
              </a:pPr>
              <a:r>
                <a:rPr sz="720" b="0" i="0">
                  <a:solidFill>
                    <a:srgbClr val="2B2B2B"/>
                  </a:solidFill>
                  <a:latin typeface="Open Sans"/>
                </a:rPr>
                <a:t>activités</a:t>
              </a:r>
            </a:p>
            <a:p>
              <a:pPr algn="ctr">
                <a:lnSpc>
                  <a:spcPct val="105000"/>
                </a:lnSpc>
                <a:spcAft>
                  <a:spcPts val="0"/>
                </a:spcAft>
              </a:pPr>
              <a:r>
                <a:rPr sz="720" b="0" i="0">
                  <a:solidFill>
                    <a:srgbClr val="2B2B2B"/>
                  </a:solidFill>
                  <a:latin typeface="Open Sans"/>
                </a:rPr>
                <a:t>couvertes</a:t>
              </a:r>
            </a:p>
          </p:txBody>
        </p:sp>
      </p:grpSp>
      <p:grpSp>
        <p:nvGrpSpPr>
          <p:cNvPr id="32" name="Chiffre clé 11 741"/>
          <p:cNvGrpSpPr/>
          <p:nvPr/>
        </p:nvGrpSpPr>
        <p:grpSpPr>
          <a:xfrm>
            <a:off x="457200" y="4673600"/>
            <a:ext cx="2147570" cy="508000"/>
            <a:chOff x="457200" y="4673600"/>
            <a:chExt cx="2147570" cy="508000"/>
          </a:xfrm>
        </p:grpSpPr>
        <p:sp>
          <p:nvSpPr>
            <p:cNvPr id="29" name="Chiffre 11 741 – fond"/>
            <p:cNvSpPr/>
            <p:nvPr/>
          </p:nvSpPr>
          <p:spPr>
            <a:xfrm>
              <a:off x="457200" y="4673600"/>
              <a:ext cx="2147570" cy="508000"/>
            </a:xfrm>
            <a:prstGeom prst="roundRect">
              <a:avLst>
                <a:gd name="adj" fmla="val 17500"/>
              </a:avLst>
            </a:prstGeom>
            <a:solidFill>
              <a:srgbClr val="26408F"/>
            </a:solidFill>
            <a:ln>
              <a:noFill/>
            </a:ln>
            <a:effectLst/>
          </p:spPr>
          <p:txBody>
            <a:bodyPr rtlCol="0" anchor="ctr"/>
            <a:lstStyle/>
            <a:p/>
          </p:txBody>
        </p:sp>
        <p:sp>
          <p:nvSpPr>
            <p:cNvPr id="30" name="Chiffre 11 741"/>
            <p:cNvSpPr txBox="1"/>
            <p:nvPr/>
          </p:nvSpPr>
          <p:spPr>
            <a:xfrm>
              <a:off x="609600" y="4673600"/>
              <a:ext cx="838200" cy="508000"/>
            </a:xfrm>
            <a:prstGeom prst="rect">
              <a:avLst/>
            </a:prstGeom>
            <a:noFill/>
          </p:spPr>
          <p:txBody>
            <a:bodyPr wrap="square" lIns="0" rIns="0" tIns="0" bIns="0" anchor="ctr">
              <a:noAutofit/>
            </a:bodyPr>
            <a:lstStyle/>
            <a:p>
              <a:pPr algn="l">
                <a:lnSpc>
                  <a:spcPct val="100000"/>
                </a:lnSpc>
                <a:spcAft>
                  <a:spcPts val="0"/>
                </a:spcAft>
              </a:pPr>
              <a:r>
                <a:rPr sz="1700" b="1" i="0">
                  <a:solidFill>
                    <a:srgbClr val="FFCB1F"/>
                  </a:solidFill>
                  <a:latin typeface="Poppins"/>
                </a:rPr>
                <a:t>11 741</a:t>
              </a:r>
            </a:p>
          </p:txBody>
        </p:sp>
        <p:sp>
          <p:nvSpPr>
            <p:cNvPr id="31" name="Chiffre 11 741 – légende"/>
            <p:cNvSpPr txBox="1"/>
            <p:nvPr/>
          </p:nvSpPr>
          <p:spPr>
            <a:xfrm>
              <a:off x="1473200" y="4673600"/>
              <a:ext cx="1029969" cy="508000"/>
            </a:xfrm>
            <a:prstGeom prst="rect">
              <a:avLst/>
            </a:prstGeom>
            <a:noFill/>
          </p:spPr>
          <p:txBody>
            <a:bodyPr wrap="square" lIns="0" rIns="0" tIns="0" bIns="0" anchor="ctr">
              <a:noAutofit/>
            </a:bodyPr>
            <a:lstStyle/>
            <a:p>
              <a:pPr algn="l">
                <a:lnSpc>
                  <a:spcPct val="110000"/>
                </a:lnSpc>
                <a:spcAft>
                  <a:spcPts val="0"/>
                </a:spcAft>
              </a:pPr>
              <a:r>
                <a:rPr sz="740" b="0" i="0">
                  <a:solidFill>
                    <a:srgbClr val="FFFFFF"/>
                  </a:solidFill>
                  <a:latin typeface="Open Sans"/>
                </a:rPr>
                <a:t>Entrepreneurs assures depuis 2007</a:t>
              </a:r>
            </a:p>
          </p:txBody>
        </p:sp>
      </p:grpSp>
      <p:grpSp>
        <p:nvGrpSpPr>
          <p:cNvPr id="36" name="Chiffre clé 38 816"/>
          <p:cNvGrpSpPr/>
          <p:nvPr/>
        </p:nvGrpSpPr>
        <p:grpSpPr>
          <a:xfrm>
            <a:off x="2706370" y="4673600"/>
            <a:ext cx="2147570" cy="508000"/>
            <a:chOff x="2706370" y="4673600"/>
            <a:chExt cx="2147570" cy="508000"/>
          </a:xfrm>
        </p:grpSpPr>
        <p:sp>
          <p:nvSpPr>
            <p:cNvPr id="33" name="Chiffre 38 816 – fond"/>
            <p:cNvSpPr/>
            <p:nvPr/>
          </p:nvSpPr>
          <p:spPr>
            <a:xfrm>
              <a:off x="2706370" y="4673600"/>
              <a:ext cx="2147570" cy="508000"/>
            </a:xfrm>
            <a:prstGeom prst="roundRect">
              <a:avLst>
                <a:gd name="adj" fmla="val 17500"/>
              </a:avLst>
            </a:prstGeom>
            <a:solidFill>
              <a:srgbClr val="26408F"/>
            </a:solidFill>
            <a:ln>
              <a:noFill/>
            </a:ln>
            <a:effectLst/>
          </p:spPr>
          <p:txBody>
            <a:bodyPr rtlCol="0" anchor="ctr"/>
            <a:lstStyle/>
            <a:p/>
          </p:txBody>
        </p:sp>
        <p:sp>
          <p:nvSpPr>
            <p:cNvPr id="34" name="Chiffre 38 816"/>
            <p:cNvSpPr txBox="1"/>
            <p:nvPr/>
          </p:nvSpPr>
          <p:spPr>
            <a:xfrm>
              <a:off x="2858770" y="4673600"/>
              <a:ext cx="838200" cy="508000"/>
            </a:xfrm>
            <a:prstGeom prst="rect">
              <a:avLst/>
            </a:prstGeom>
            <a:noFill/>
          </p:spPr>
          <p:txBody>
            <a:bodyPr wrap="square" lIns="0" rIns="0" tIns="0" bIns="0" anchor="ctr">
              <a:noAutofit/>
            </a:bodyPr>
            <a:lstStyle/>
            <a:p>
              <a:pPr algn="l">
                <a:lnSpc>
                  <a:spcPct val="100000"/>
                </a:lnSpc>
                <a:spcAft>
                  <a:spcPts val="0"/>
                </a:spcAft>
              </a:pPr>
              <a:r>
                <a:rPr sz="1700" b="1" i="0">
                  <a:solidFill>
                    <a:srgbClr val="FFCB1F"/>
                  </a:solidFill>
                  <a:latin typeface="Poppins"/>
                </a:rPr>
                <a:t>38 816</a:t>
              </a:r>
            </a:p>
          </p:txBody>
        </p:sp>
        <p:sp>
          <p:nvSpPr>
            <p:cNvPr id="35" name="Chiffre 38 816 – légende"/>
            <p:cNvSpPr txBox="1"/>
            <p:nvPr/>
          </p:nvSpPr>
          <p:spPr>
            <a:xfrm>
              <a:off x="3722370" y="4673600"/>
              <a:ext cx="1029969" cy="508000"/>
            </a:xfrm>
            <a:prstGeom prst="rect">
              <a:avLst/>
            </a:prstGeom>
            <a:noFill/>
          </p:spPr>
          <p:txBody>
            <a:bodyPr wrap="square" lIns="0" rIns="0" tIns="0" bIns="0" anchor="ctr">
              <a:noAutofit/>
            </a:bodyPr>
            <a:lstStyle/>
            <a:p>
              <a:pPr algn="l">
                <a:lnSpc>
                  <a:spcPct val="110000"/>
                </a:lnSpc>
                <a:spcAft>
                  <a:spcPts val="0"/>
                </a:spcAft>
              </a:pPr>
              <a:r>
                <a:rPr sz="740" b="0" i="0">
                  <a:solidFill>
                    <a:srgbClr val="FFFFFF"/>
                  </a:solidFill>
                  <a:latin typeface="Open Sans"/>
                </a:rPr>
                <a:t>personnes formées aux risques depuis 2007</a:t>
              </a:r>
            </a:p>
          </p:txBody>
        </p:sp>
      </p:grpSp>
      <p:grpSp>
        <p:nvGrpSpPr>
          <p:cNvPr id="40" name="Chiffre clé 20 ans"/>
          <p:cNvGrpSpPr/>
          <p:nvPr/>
        </p:nvGrpSpPr>
        <p:grpSpPr>
          <a:xfrm>
            <a:off x="4955540" y="4673600"/>
            <a:ext cx="2147570" cy="508000"/>
            <a:chOff x="4955540" y="4673600"/>
            <a:chExt cx="2147570" cy="508000"/>
          </a:xfrm>
        </p:grpSpPr>
        <p:sp>
          <p:nvSpPr>
            <p:cNvPr id="37" name="Chiffre 20 ans – fond"/>
            <p:cNvSpPr/>
            <p:nvPr/>
          </p:nvSpPr>
          <p:spPr>
            <a:xfrm>
              <a:off x="4955540" y="4673600"/>
              <a:ext cx="2147570" cy="508000"/>
            </a:xfrm>
            <a:prstGeom prst="roundRect">
              <a:avLst>
                <a:gd name="adj" fmla="val 17500"/>
              </a:avLst>
            </a:prstGeom>
            <a:solidFill>
              <a:srgbClr val="26408F"/>
            </a:solidFill>
            <a:ln>
              <a:noFill/>
            </a:ln>
            <a:effectLst/>
          </p:spPr>
          <p:txBody>
            <a:bodyPr rtlCol="0" anchor="ctr"/>
            <a:lstStyle/>
            <a:p/>
          </p:txBody>
        </p:sp>
        <p:sp>
          <p:nvSpPr>
            <p:cNvPr id="38" name="Chiffre 20 ans"/>
            <p:cNvSpPr txBox="1"/>
            <p:nvPr/>
          </p:nvSpPr>
          <p:spPr>
            <a:xfrm>
              <a:off x="5107940" y="4673600"/>
              <a:ext cx="838200" cy="508000"/>
            </a:xfrm>
            <a:prstGeom prst="rect">
              <a:avLst/>
            </a:prstGeom>
            <a:noFill/>
          </p:spPr>
          <p:txBody>
            <a:bodyPr wrap="square" lIns="0" rIns="0" tIns="0" bIns="0" anchor="ctr">
              <a:noAutofit/>
            </a:bodyPr>
            <a:lstStyle/>
            <a:p>
              <a:pPr algn="l">
                <a:lnSpc>
                  <a:spcPct val="100000"/>
                </a:lnSpc>
                <a:spcAft>
                  <a:spcPts val="0"/>
                </a:spcAft>
              </a:pPr>
              <a:r>
                <a:rPr sz="1700" b="1" i="0">
                  <a:solidFill>
                    <a:srgbClr val="FFCB1F"/>
                  </a:solidFill>
                  <a:latin typeface="Poppins"/>
                </a:rPr>
                <a:t>20 ans</a:t>
              </a:r>
            </a:p>
          </p:txBody>
        </p:sp>
        <p:sp>
          <p:nvSpPr>
            <p:cNvPr id="39" name="Chiffre 20 ans – légende"/>
            <p:cNvSpPr txBox="1"/>
            <p:nvPr/>
          </p:nvSpPr>
          <p:spPr>
            <a:xfrm>
              <a:off x="5971540" y="4673600"/>
              <a:ext cx="1029969" cy="508000"/>
            </a:xfrm>
            <a:prstGeom prst="rect">
              <a:avLst/>
            </a:prstGeom>
            <a:noFill/>
          </p:spPr>
          <p:txBody>
            <a:bodyPr wrap="square" lIns="0" rIns="0" tIns="0" bIns="0" anchor="ctr">
              <a:noAutofit/>
            </a:bodyPr>
            <a:lstStyle/>
            <a:p>
              <a:pPr algn="l">
                <a:lnSpc>
                  <a:spcPct val="110000"/>
                </a:lnSpc>
                <a:spcAft>
                  <a:spcPts val="0"/>
                </a:spcAft>
              </a:pPr>
              <a:r>
                <a:rPr sz="740" b="0" i="0">
                  <a:solidFill>
                    <a:srgbClr val="FFFFFF"/>
                  </a:solidFill>
                  <a:latin typeface="Open Sans"/>
                </a:rPr>
                <a:t>d’expérience aux côtés des entrepreneurs</a:t>
              </a:r>
            </a:p>
          </p:txBody>
        </p:sp>
      </p:grpSp>
      <p:sp>
        <p:nvSpPr>
          <p:cNvPr id="41" name="Pourquoi soutenir EDLC ? – repère"/>
          <p:cNvSpPr/>
          <p:nvPr/>
        </p:nvSpPr>
        <p:spPr>
          <a:xfrm>
            <a:off x="457200" y="5473700"/>
            <a:ext cx="57150" cy="215900"/>
          </a:xfrm>
          <a:prstGeom prst="roundRect">
            <a:avLst>
              <a:gd name="adj" fmla="val 48888"/>
            </a:avLst>
          </a:prstGeom>
          <a:solidFill>
            <a:srgbClr val="EF3F34"/>
          </a:solidFill>
          <a:ln>
            <a:noFill/>
          </a:ln>
          <a:effectLst/>
        </p:spPr>
        <p:txBody>
          <a:bodyPr rtlCol="0" anchor="ctr"/>
          <a:lstStyle/>
          <a:p/>
        </p:txBody>
      </p:sp>
      <p:sp>
        <p:nvSpPr>
          <p:cNvPr id="42" name="Pourquoi soutenir EDLC ?"/>
          <p:cNvSpPr txBox="1"/>
          <p:nvPr/>
        </p:nvSpPr>
        <p:spPr>
          <a:xfrm>
            <a:off x="596900" y="5435600"/>
            <a:ext cx="6506209" cy="285750"/>
          </a:xfrm>
          <a:prstGeom prst="rect">
            <a:avLst/>
          </a:prstGeom>
          <a:noFill/>
        </p:spPr>
        <p:txBody>
          <a:bodyPr wrap="square" lIns="0" rIns="0" tIns="0" bIns="0" anchor="t">
            <a:noAutofit/>
          </a:bodyPr>
          <a:lstStyle/>
          <a:p>
            <a:pPr algn="l">
              <a:lnSpc>
                <a:spcPct val="100000"/>
              </a:lnSpc>
              <a:spcAft>
                <a:spcPts val="0"/>
              </a:spcAft>
            </a:pPr>
            <a:r>
              <a:rPr sz="1500" b="1" i="0">
                <a:solidFill>
                  <a:srgbClr val="EF3F34"/>
                </a:solidFill>
                <a:latin typeface="Poppins"/>
              </a:rPr>
              <a:t>Pourquoi soutenir EDLC ?</a:t>
            </a:r>
          </a:p>
        </p:txBody>
      </p:sp>
      <p:sp>
        <p:nvSpPr>
          <p:cNvPr id="43" name="Pourquoi soutenir – texte"/>
          <p:cNvSpPr txBox="1"/>
          <p:nvPr/>
        </p:nvSpPr>
        <p:spPr>
          <a:xfrm>
            <a:off x="457200" y="5778500"/>
            <a:ext cx="6645909" cy="1016000"/>
          </a:xfrm>
          <a:prstGeom prst="rect">
            <a:avLst/>
          </a:prstGeom>
          <a:noFill/>
        </p:spPr>
        <p:txBody>
          <a:bodyPr wrap="square" lIns="0" rIns="0" tIns="0" bIns="0" anchor="t">
            <a:noAutofit/>
          </a:bodyPr>
          <a:lstStyle/>
          <a:p>
            <a:pPr algn="l">
              <a:lnSpc>
                <a:spcPct val="125000"/>
              </a:lnSpc>
              <a:spcAft>
                <a:spcPts val="500"/>
              </a:spcAft>
            </a:pPr>
            <a:r>
              <a:rPr sz="900" b="0" i="0">
                <a:solidFill>
                  <a:srgbClr val="2B2B2B"/>
                </a:solidFill>
                <a:latin typeface="Open Sans"/>
              </a:rPr>
              <a:t>Les créateurs en situation de précarité ou de handicap peuvent rencontrer des difficultés à accéder aux assurances professionnelles classiques. Sans protection adaptée, un accident, un litige ou un arrêt de travail peut compromettre l’activité qu’ils ont créée.</a:t>
            </a:r>
          </a:p>
          <a:p>
            <a:pPr algn="l">
              <a:lnSpc>
                <a:spcPct val="125000"/>
              </a:lnSpc>
              <a:spcAft>
                <a:spcPts val="500"/>
              </a:spcAft>
            </a:pPr>
            <a:r>
              <a:rPr sz="900" b="0" i="0">
                <a:solidFill>
                  <a:srgbClr val="2B2B2B"/>
                </a:solidFill>
                <a:latin typeface="Open Sans"/>
              </a:rPr>
              <a:t>EDLC apporte une réponse concrète et complémentaire à l’accompagnement à la création d’entreprise : pour bénéficier gratuitement de nos services, les créateurs sont accompagnés par une structure d’aide à la création.</a:t>
            </a:r>
          </a:p>
        </p:txBody>
      </p:sp>
      <p:sp>
        <p:nvSpPr>
          <p:cNvPr id="44" name="Un modèle qui associe protection et prévention"/>
          <p:cNvSpPr txBox="1"/>
          <p:nvPr/>
        </p:nvSpPr>
        <p:spPr>
          <a:xfrm>
            <a:off x="457200" y="6832600"/>
            <a:ext cx="6645909" cy="219075"/>
          </a:xfrm>
          <a:prstGeom prst="rect">
            <a:avLst/>
          </a:prstGeom>
          <a:noFill/>
        </p:spPr>
        <p:txBody>
          <a:bodyPr wrap="square" lIns="0" rIns="0" tIns="0" bIns="0" anchor="t">
            <a:noAutofit/>
          </a:bodyPr>
          <a:lstStyle/>
          <a:p>
            <a:pPr algn="l">
              <a:lnSpc>
                <a:spcPct val="100000"/>
              </a:lnSpc>
              <a:spcAft>
                <a:spcPts val="0"/>
              </a:spcAft>
            </a:pPr>
            <a:r>
              <a:rPr sz="1150" b="1" i="0">
                <a:solidFill>
                  <a:srgbClr val="26408F"/>
                </a:solidFill>
                <a:latin typeface="Poppins"/>
              </a:rPr>
              <a:t>Un modèle qui associe protection et prévention</a:t>
            </a:r>
          </a:p>
        </p:txBody>
      </p:sp>
      <p:sp>
        <p:nvSpPr>
          <p:cNvPr id="45" name="Carte PROTÉGER – fond"/>
          <p:cNvSpPr/>
          <p:nvPr/>
        </p:nvSpPr>
        <p:spPr>
          <a:xfrm>
            <a:off x="457200" y="7099300"/>
            <a:ext cx="3259454" cy="1320800"/>
          </a:xfrm>
          <a:prstGeom prst="roundRect">
            <a:avLst>
              <a:gd name="adj" fmla="val 8653"/>
            </a:avLst>
          </a:prstGeom>
          <a:solidFill>
            <a:srgbClr val="FDE8E6"/>
          </a:solidFill>
          <a:ln>
            <a:noFill/>
          </a:ln>
          <a:effectLst/>
        </p:spPr>
        <p:txBody>
          <a:bodyPr rtlCol="0" anchor="ctr"/>
          <a:lstStyle/>
          <a:p/>
        </p:txBody>
      </p:sp>
      <p:sp>
        <p:nvSpPr>
          <p:cNvPr id="46" name="Picto protéger – fond"/>
          <p:cNvSpPr/>
          <p:nvPr/>
        </p:nvSpPr>
        <p:spPr>
          <a:xfrm>
            <a:off x="584200" y="7226300"/>
            <a:ext cx="355600" cy="355600"/>
          </a:xfrm>
          <a:prstGeom prst="ellipse">
            <a:avLst/>
          </a:prstGeom>
          <a:solidFill>
            <a:srgbClr val="EF3F34"/>
          </a:solidFill>
          <a:ln>
            <a:noFill/>
          </a:ln>
          <a:effectLst/>
        </p:spPr>
        <p:txBody>
          <a:bodyPr rtlCol="0" anchor="ctr"/>
          <a:lstStyle/>
          <a:p>
            <a:pPr algn="ctr"/>
          </a:p>
        </p:txBody>
      </p:sp>
      <p:sp>
        <p:nvSpPr>
          <p:cNvPr id="47" name="Picto protéger – bouclier"/>
          <p:cNvSpPr/>
          <p:nvPr/>
        </p:nvSpPr>
        <p:spPr>
          <a:xfrm>
            <a:off x="679026" y="7303346"/>
            <a:ext cx="165946" cy="201506"/>
          </a:xfrm>
          <a:prstGeom prst="flowChartOffpageConnector">
            <a:avLst/>
          </a:prstGeom>
          <a:solidFill>
            <a:srgbClr val="FFFFFF"/>
          </a:solidFill>
          <a:ln>
            <a:noFill/>
          </a:ln>
        </p:spPr>
        <p:txBody>
          <a:bodyPr rtlCol="0" anchor="ctr"/>
          <a:lstStyle/>
          <a:p>
            <a:pPr algn="ctr"/>
          </a:p>
        </p:txBody>
      </p:sp>
      <p:sp>
        <p:nvSpPr>
          <p:cNvPr id="48" name="Picto protéger – coche (court)"/>
          <p:cNvSpPr/>
          <p:nvPr/>
        </p:nvSpPr>
        <p:spPr>
          <a:xfrm rot="2700000">
            <a:off x="705104" y="7385134"/>
            <a:ext cx="59266" cy="26077"/>
          </a:xfrm>
          <a:prstGeom prst="roundRect">
            <a:avLst/>
          </a:prstGeom>
          <a:solidFill>
            <a:srgbClr val="EF3F34"/>
          </a:solidFill>
          <a:ln>
            <a:noFill/>
          </a:ln>
        </p:spPr>
        <p:txBody>
          <a:bodyPr rtlCol="0" anchor="ctr"/>
          <a:lstStyle/>
          <a:p>
            <a:pPr algn="ctr"/>
          </a:p>
        </p:txBody>
      </p:sp>
      <p:sp>
        <p:nvSpPr>
          <p:cNvPr id="49" name="Picto protéger – coche (long)"/>
          <p:cNvSpPr/>
          <p:nvPr/>
        </p:nvSpPr>
        <p:spPr>
          <a:xfrm rot="18600000">
            <a:off x="733552" y="7366169"/>
            <a:ext cx="100753" cy="26077"/>
          </a:xfrm>
          <a:prstGeom prst="roundRect">
            <a:avLst/>
          </a:prstGeom>
          <a:solidFill>
            <a:srgbClr val="EF3F34"/>
          </a:solidFill>
          <a:ln>
            <a:noFill/>
          </a:ln>
        </p:spPr>
        <p:txBody>
          <a:bodyPr rtlCol="0" anchor="ctr"/>
          <a:lstStyle/>
          <a:p>
            <a:pPr algn="ctr"/>
          </a:p>
        </p:txBody>
      </p:sp>
      <p:sp>
        <p:nvSpPr>
          <p:cNvPr id="50" name="Carte PROTÉGER – titre"/>
          <p:cNvSpPr txBox="1"/>
          <p:nvPr/>
        </p:nvSpPr>
        <p:spPr>
          <a:xfrm>
            <a:off x="1041400" y="7226300"/>
            <a:ext cx="2548254" cy="177800"/>
          </a:xfrm>
          <a:prstGeom prst="rect">
            <a:avLst/>
          </a:prstGeom>
          <a:noFill/>
        </p:spPr>
        <p:txBody>
          <a:bodyPr wrap="square" lIns="0" rIns="0" tIns="0" bIns="0" anchor="t">
            <a:noAutofit/>
          </a:bodyPr>
          <a:lstStyle/>
          <a:p>
            <a:pPr algn="l">
              <a:lnSpc>
                <a:spcPct val="100000"/>
              </a:lnSpc>
              <a:spcAft>
                <a:spcPts val="0"/>
              </a:spcAft>
            </a:pPr>
            <a:r>
              <a:rPr sz="1000" b="1" i="0" spc="60">
                <a:solidFill>
                  <a:srgbClr val="EF3F34"/>
                </a:solidFill>
                <a:latin typeface="Poppins"/>
              </a:rPr>
              <a:t>PROTÉGER</a:t>
            </a:r>
          </a:p>
        </p:txBody>
      </p:sp>
      <p:sp>
        <p:nvSpPr>
          <p:cNvPr id="51" name="Carte PROTÉGER – texte"/>
          <p:cNvSpPr txBox="1"/>
          <p:nvPr/>
        </p:nvSpPr>
        <p:spPr>
          <a:xfrm>
            <a:off x="1041400" y="7442200"/>
            <a:ext cx="2548254" cy="939800"/>
          </a:xfrm>
          <a:prstGeom prst="rect">
            <a:avLst/>
          </a:prstGeom>
          <a:noFill/>
        </p:spPr>
        <p:txBody>
          <a:bodyPr wrap="square" lIns="0" rIns="0" tIns="0" bIns="0" anchor="t">
            <a:noAutofit/>
          </a:bodyPr>
          <a:lstStyle/>
          <a:p>
            <a:pPr algn="l">
              <a:lnSpc>
                <a:spcPct val="118000"/>
              </a:lnSpc>
              <a:spcAft>
                <a:spcPts val="0"/>
              </a:spcAft>
            </a:pPr>
            <a:r>
              <a:rPr sz="810" b="1" i="0">
                <a:solidFill>
                  <a:srgbClr val="2B2B2B"/>
                </a:solidFill>
                <a:latin typeface="Open Sans"/>
              </a:rPr>
              <a:t>Des solutions assurantielles à tarifs solidaires, couvrant notamment la multirisque professionnelle, la responsabilité civile professionnelle, la santé, la prévoyance et la responsabilité civile décennale. </a:t>
            </a:r>
            <a:r>
              <a:rPr sz="810" b="0" i="0">
                <a:solidFill>
                  <a:srgbClr val="2B2B2B"/>
                </a:solidFill>
                <a:latin typeface="Open Sans"/>
              </a:rPr>
              <a:t>L’assistance juridique est proposée gratuitement.</a:t>
            </a:r>
          </a:p>
        </p:txBody>
      </p:sp>
      <p:sp>
        <p:nvSpPr>
          <p:cNvPr id="52" name="Carte PRÉVENIR – fond"/>
          <p:cNvSpPr/>
          <p:nvPr/>
        </p:nvSpPr>
        <p:spPr>
          <a:xfrm>
            <a:off x="3843654" y="7099300"/>
            <a:ext cx="3259454" cy="1320800"/>
          </a:xfrm>
          <a:prstGeom prst="roundRect">
            <a:avLst>
              <a:gd name="adj" fmla="val 8653"/>
            </a:avLst>
          </a:prstGeom>
          <a:solidFill>
            <a:srgbClr val="FFF5D2"/>
          </a:solidFill>
          <a:ln>
            <a:noFill/>
          </a:ln>
          <a:effectLst/>
        </p:spPr>
        <p:txBody>
          <a:bodyPr rtlCol="0" anchor="ctr"/>
          <a:lstStyle/>
          <a:p/>
        </p:txBody>
      </p:sp>
      <p:sp>
        <p:nvSpPr>
          <p:cNvPr id="53" name="Picto prévenir – fond"/>
          <p:cNvSpPr/>
          <p:nvPr/>
        </p:nvSpPr>
        <p:spPr>
          <a:xfrm>
            <a:off x="3970654" y="7226300"/>
            <a:ext cx="355600" cy="355600"/>
          </a:xfrm>
          <a:prstGeom prst="ellipse">
            <a:avLst/>
          </a:prstGeom>
          <a:solidFill>
            <a:srgbClr val="26408F"/>
          </a:solidFill>
          <a:ln>
            <a:noFill/>
          </a:ln>
          <a:effectLst/>
        </p:spPr>
        <p:txBody>
          <a:bodyPr rtlCol="0" anchor="ctr"/>
          <a:lstStyle/>
          <a:p>
            <a:pPr algn="ctr"/>
          </a:p>
        </p:txBody>
      </p:sp>
      <p:sp>
        <p:nvSpPr>
          <p:cNvPr id="54" name="Picto prévenir – ampoule"/>
          <p:cNvSpPr/>
          <p:nvPr/>
        </p:nvSpPr>
        <p:spPr>
          <a:xfrm>
            <a:off x="4077334" y="7285566"/>
            <a:ext cx="142240" cy="142240"/>
          </a:xfrm>
          <a:prstGeom prst="ellipse">
            <a:avLst/>
          </a:prstGeom>
          <a:solidFill>
            <a:srgbClr val="FFCB1F"/>
          </a:solidFill>
          <a:ln>
            <a:noFill/>
          </a:ln>
          <a:effectLst/>
        </p:spPr>
        <p:txBody>
          <a:bodyPr rtlCol="0" anchor="ctr"/>
          <a:lstStyle/>
          <a:p>
            <a:pPr algn="ctr"/>
          </a:p>
        </p:txBody>
      </p:sp>
      <p:sp>
        <p:nvSpPr>
          <p:cNvPr id="55" name="Picto prévenir – culot"/>
          <p:cNvSpPr/>
          <p:nvPr/>
        </p:nvSpPr>
        <p:spPr>
          <a:xfrm>
            <a:off x="4112894" y="7410026"/>
            <a:ext cx="71120" cy="59266"/>
          </a:xfrm>
          <a:prstGeom prst="rect">
            <a:avLst/>
          </a:prstGeom>
          <a:solidFill>
            <a:srgbClr val="FFCB1F"/>
          </a:solidFill>
          <a:ln>
            <a:noFill/>
          </a:ln>
          <a:effectLst/>
        </p:spPr>
        <p:txBody>
          <a:bodyPr rtlCol="0" anchor="ctr"/>
          <a:lstStyle/>
          <a:p/>
        </p:txBody>
      </p:sp>
      <p:sp>
        <p:nvSpPr>
          <p:cNvPr id="56" name="Picto prévenir – trait 1"/>
          <p:cNvSpPr/>
          <p:nvPr/>
        </p:nvSpPr>
        <p:spPr>
          <a:xfrm>
            <a:off x="4112894" y="7478776"/>
            <a:ext cx="71120" cy="16594"/>
          </a:xfrm>
          <a:prstGeom prst="rect">
            <a:avLst/>
          </a:prstGeom>
          <a:solidFill>
            <a:srgbClr val="FFCB1F"/>
          </a:solidFill>
          <a:ln>
            <a:noFill/>
          </a:ln>
          <a:effectLst/>
        </p:spPr>
        <p:txBody>
          <a:bodyPr rtlCol="0" anchor="ctr"/>
          <a:lstStyle/>
          <a:p/>
        </p:txBody>
      </p:sp>
      <p:sp>
        <p:nvSpPr>
          <p:cNvPr id="57" name="Picto prévenir – trait 2"/>
          <p:cNvSpPr/>
          <p:nvPr/>
        </p:nvSpPr>
        <p:spPr>
          <a:xfrm>
            <a:off x="4124748" y="7504853"/>
            <a:ext cx="47413" cy="16594"/>
          </a:xfrm>
          <a:prstGeom prst="rect">
            <a:avLst/>
          </a:prstGeom>
          <a:solidFill>
            <a:srgbClr val="FFCB1F"/>
          </a:solidFill>
          <a:ln>
            <a:noFill/>
          </a:ln>
          <a:effectLst/>
        </p:spPr>
        <p:txBody>
          <a:bodyPr rtlCol="0" anchor="ctr"/>
          <a:lstStyle/>
          <a:p/>
        </p:txBody>
      </p:sp>
      <p:sp>
        <p:nvSpPr>
          <p:cNvPr id="58" name="Carte PRÉVENIR – titre"/>
          <p:cNvSpPr txBox="1"/>
          <p:nvPr/>
        </p:nvSpPr>
        <p:spPr>
          <a:xfrm>
            <a:off x="4427855" y="7226300"/>
            <a:ext cx="2548254" cy="177800"/>
          </a:xfrm>
          <a:prstGeom prst="rect">
            <a:avLst/>
          </a:prstGeom>
          <a:noFill/>
        </p:spPr>
        <p:txBody>
          <a:bodyPr wrap="square" lIns="0" rIns="0" tIns="0" bIns="0" anchor="t">
            <a:noAutofit/>
          </a:bodyPr>
          <a:lstStyle/>
          <a:p>
            <a:pPr algn="l">
              <a:lnSpc>
                <a:spcPct val="100000"/>
              </a:lnSpc>
              <a:spcAft>
                <a:spcPts val="0"/>
              </a:spcAft>
            </a:pPr>
            <a:r>
              <a:rPr sz="1000" b="1" i="0" spc="60">
                <a:solidFill>
                  <a:srgbClr val="26408F"/>
                </a:solidFill>
                <a:latin typeface="Poppins"/>
              </a:rPr>
              <a:t>PRÉVENIR</a:t>
            </a:r>
          </a:p>
        </p:txBody>
      </p:sp>
      <p:sp>
        <p:nvSpPr>
          <p:cNvPr id="59" name="Carte PRÉVENIR – texte"/>
          <p:cNvSpPr txBox="1"/>
          <p:nvPr/>
        </p:nvSpPr>
        <p:spPr>
          <a:xfrm>
            <a:off x="4427855" y="7442200"/>
            <a:ext cx="2548254" cy="939800"/>
          </a:xfrm>
          <a:prstGeom prst="rect">
            <a:avLst/>
          </a:prstGeom>
          <a:noFill/>
        </p:spPr>
        <p:txBody>
          <a:bodyPr wrap="square" lIns="0" rIns="0" tIns="0" bIns="0" anchor="t">
            <a:noAutofit/>
          </a:bodyPr>
          <a:lstStyle/>
          <a:p>
            <a:pPr algn="l">
              <a:lnSpc>
                <a:spcPct val="118000"/>
              </a:lnSpc>
              <a:spcAft>
                <a:spcPts val="0"/>
              </a:spcAft>
            </a:pPr>
            <a:r>
              <a:rPr sz="810" b="1" i="0">
                <a:solidFill>
                  <a:srgbClr val="2B2B2B"/>
                </a:solidFill>
                <a:latin typeface="Open Sans"/>
              </a:rPr>
              <a:t>Des webinaires hebdomadaires, des formations et des interventions auprès des réseaux d’accompagnement pour aider les entrepreneurs à identifier les risques et à choisir les protections adaptées.</a:t>
            </a:r>
          </a:p>
        </p:txBody>
      </p:sp>
      <p:sp>
        <p:nvSpPr>
          <p:cNvPr id="60" name="Un impact social documenté"/>
          <p:cNvSpPr txBox="1"/>
          <p:nvPr/>
        </p:nvSpPr>
        <p:spPr>
          <a:xfrm>
            <a:off x="457200" y="8585200"/>
            <a:ext cx="6645909" cy="219075"/>
          </a:xfrm>
          <a:prstGeom prst="rect">
            <a:avLst/>
          </a:prstGeom>
          <a:noFill/>
        </p:spPr>
        <p:txBody>
          <a:bodyPr wrap="square" lIns="0" rIns="0" tIns="0" bIns="0" anchor="t">
            <a:noAutofit/>
          </a:bodyPr>
          <a:lstStyle/>
          <a:p>
            <a:pPr algn="l">
              <a:lnSpc>
                <a:spcPct val="100000"/>
              </a:lnSpc>
              <a:spcAft>
                <a:spcPts val="0"/>
              </a:spcAft>
            </a:pPr>
            <a:r>
              <a:rPr sz="1150" b="1" i="0">
                <a:solidFill>
                  <a:srgbClr val="26408F"/>
                </a:solidFill>
                <a:latin typeface="Poppins"/>
              </a:rPr>
              <a:t>Un impact social documenté</a:t>
            </a:r>
          </a:p>
        </p:txBody>
      </p:sp>
      <p:grpSp>
        <p:nvGrpSpPr>
          <p:cNvPr id="64" name="Profil bénéficiaires 1"/>
          <p:cNvGrpSpPr/>
          <p:nvPr/>
        </p:nvGrpSpPr>
        <p:grpSpPr>
          <a:xfrm>
            <a:off x="457200" y="8851900"/>
            <a:ext cx="1585277" cy="584200"/>
            <a:chOff x="457200" y="8851900"/>
            <a:chExt cx="1585277" cy="584200"/>
          </a:xfrm>
        </p:grpSpPr>
        <p:sp>
          <p:nvSpPr>
            <p:cNvPr id="61" name="Profil 1 – cadre"/>
            <p:cNvSpPr/>
            <p:nvPr/>
          </p:nvSpPr>
          <p:spPr>
            <a:xfrm>
              <a:off x="457200" y="8851900"/>
              <a:ext cx="1585277" cy="584200"/>
            </a:xfrm>
            <a:prstGeom prst="roundRect">
              <a:avLst>
                <a:gd name="adj" fmla="val 15217"/>
              </a:avLst>
            </a:prstGeom>
            <a:solidFill>
              <a:srgbClr val="FFFFFF"/>
            </a:solidFill>
            <a:ln w="13970">
              <a:solidFill>
                <a:srgbClr val="EF3F34"/>
              </a:solidFill>
            </a:ln>
            <a:effectLst/>
          </p:spPr>
          <p:txBody>
            <a:bodyPr rtlCol="0" anchor="ctr"/>
            <a:lstStyle/>
            <a:p/>
          </p:txBody>
        </p:sp>
        <p:sp>
          <p:nvSpPr>
            <p:cNvPr id="62" name="Profil 1 – accent"/>
            <p:cNvSpPr/>
            <p:nvPr/>
          </p:nvSpPr>
          <p:spPr>
            <a:xfrm>
              <a:off x="457200" y="8966200"/>
              <a:ext cx="44450" cy="355600"/>
            </a:xfrm>
            <a:prstGeom prst="rect">
              <a:avLst/>
            </a:prstGeom>
            <a:solidFill>
              <a:srgbClr val="EF3F34"/>
            </a:solidFill>
            <a:ln>
              <a:noFill/>
            </a:ln>
            <a:effectLst/>
          </p:spPr>
          <p:txBody>
            <a:bodyPr rtlCol="0" anchor="ctr"/>
            <a:lstStyle/>
            <a:p/>
          </p:txBody>
        </p:sp>
        <p:sp>
          <p:nvSpPr>
            <p:cNvPr id="63" name="Profil 1"/>
            <p:cNvSpPr txBox="1"/>
            <p:nvPr/>
          </p:nvSpPr>
          <p:spPr>
            <a:xfrm>
              <a:off x="609600" y="8851900"/>
              <a:ext cx="1356677" cy="584200"/>
            </a:xfrm>
            <a:prstGeom prst="rect">
              <a:avLst/>
            </a:prstGeom>
            <a:noFill/>
          </p:spPr>
          <p:txBody>
            <a:bodyPr wrap="square" lIns="0" rIns="0" tIns="0" bIns="0" anchor="ctr">
              <a:noAutofit/>
            </a:bodyPr>
            <a:lstStyle/>
            <a:p>
              <a:pPr algn="l">
                <a:lnSpc>
                  <a:spcPct val="110000"/>
                </a:lnSpc>
                <a:spcAft>
                  <a:spcPts val="0"/>
                </a:spcAft>
              </a:pPr>
              <a:r>
                <a:rPr sz="900" b="1" i="0">
                  <a:solidFill>
                    <a:srgbClr val="EF3F34"/>
                  </a:solidFill>
                  <a:latin typeface="Open Sans"/>
                </a:rPr>
                <a:t>58</a:t>
              </a:r>
              <a:r>
                <a:rPr sz="900" b="1" i="0">
                  <a:solidFill>
                    <a:srgbClr val="2B2B2B"/>
                  </a:solidFill>
                  <a:latin typeface="Open Sans"/>
                </a:rPr>
                <a:t> % de femmes</a:t>
              </a:r>
            </a:p>
          </p:txBody>
        </p:sp>
      </p:grpSp>
      <p:grpSp>
        <p:nvGrpSpPr>
          <p:cNvPr id="68" name="Profil bénéficiaires 2"/>
          <p:cNvGrpSpPr/>
          <p:nvPr/>
        </p:nvGrpSpPr>
        <p:grpSpPr>
          <a:xfrm>
            <a:off x="2144077" y="8851900"/>
            <a:ext cx="1585277" cy="584200"/>
            <a:chOff x="2144077" y="8851900"/>
            <a:chExt cx="1585277" cy="584200"/>
          </a:xfrm>
        </p:grpSpPr>
        <p:sp>
          <p:nvSpPr>
            <p:cNvPr id="65" name="Profil 2 – cadre"/>
            <p:cNvSpPr/>
            <p:nvPr/>
          </p:nvSpPr>
          <p:spPr>
            <a:xfrm>
              <a:off x="2144077" y="8851900"/>
              <a:ext cx="1585277" cy="584200"/>
            </a:xfrm>
            <a:prstGeom prst="roundRect">
              <a:avLst>
                <a:gd name="adj" fmla="val 15217"/>
              </a:avLst>
            </a:prstGeom>
            <a:solidFill>
              <a:srgbClr val="FFFFFF"/>
            </a:solidFill>
            <a:ln w="13970">
              <a:solidFill>
                <a:srgbClr val="F89410"/>
              </a:solidFill>
            </a:ln>
            <a:effectLst/>
          </p:spPr>
          <p:txBody>
            <a:bodyPr rtlCol="0" anchor="ctr"/>
            <a:lstStyle/>
            <a:p/>
          </p:txBody>
        </p:sp>
        <p:sp>
          <p:nvSpPr>
            <p:cNvPr id="66" name="Profil 2 – accent"/>
            <p:cNvSpPr/>
            <p:nvPr/>
          </p:nvSpPr>
          <p:spPr>
            <a:xfrm>
              <a:off x="2144077" y="8966200"/>
              <a:ext cx="44450" cy="355600"/>
            </a:xfrm>
            <a:prstGeom prst="rect">
              <a:avLst/>
            </a:prstGeom>
            <a:solidFill>
              <a:srgbClr val="F89410"/>
            </a:solidFill>
            <a:ln>
              <a:noFill/>
            </a:ln>
            <a:effectLst/>
          </p:spPr>
          <p:txBody>
            <a:bodyPr rtlCol="0" anchor="ctr"/>
            <a:lstStyle/>
            <a:p/>
          </p:txBody>
        </p:sp>
        <p:sp>
          <p:nvSpPr>
            <p:cNvPr id="67" name="Profil 2"/>
            <p:cNvSpPr txBox="1"/>
            <p:nvPr/>
          </p:nvSpPr>
          <p:spPr>
            <a:xfrm>
              <a:off x="2296477" y="8851900"/>
              <a:ext cx="1356677" cy="584200"/>
            </a:xfrm>
            <a:prstGeom prst="rect">
              <a:avLst/>
            </a:prstGeom>
            <a:noFill/>
          </p:spPr>
          <p:txBody>
            <a:bodyPr wrap="square" lIns="0" rIns="0" tIns="0" bIns="0" anchor="ctr">
              <a:noAutofit/>
            </a:bodyPr>
            <a:lstStyle/>
            <a:p>
              <a:pPr algn="l">
                <a:lnSpc>
                  <a:spcPct val="110000"/>
                </a:lnSpc>
                <a:spcAft>
                  <a:spcPts val="0"/>
                </a:spcAft>
              </a:pPr>
              <a:r>
                <a:rPr sz="900" b="1" i="0">
                  <a:solidFill>
                    <a:srgbClr val="F89410"/>
                  </a:solidFill>
                  <a:latin typeface="Open Sans"/>
                </a:rPr>
                <a:t>82</a:t>
              </a:r>
              <a:r>
                <a:rPr sz="900" b="1" i="0">
                  <a:solidFill>
                    <a:srgbClr val="2B2B2B"/>
                  </a:solidFill>
                  <a:latin typeface="Open Sans"/>
                </a:rPr>
                <a:t> % d’anciens demandeurs d’emploi</a:t>
              </a:r>
            </a:p>
          </p:txBody>
        </p:sp>
      </p:grpSp>
      <p:grpSp>
        <p:nvGrpSpPr>
          <p:cNvPr id="72" name="Profil bénéficiaires 3"/>
          <p:cNvGrpSpPr/>
          <p:nvPr/>
        </p:nvGrpSpPr>
        <p:grpSpPr>
          <a:xfrm>
            <a:off x="3830954" y="8851900"/>
            <a:ext cx="1585277" cy="584200"/>
            <a:chOff x="3830954" y="8851900"/>
            <a:chExt cx="1585277" cy="584200"/>
          </a:xfrm>
        </p:grpSpPr>
        <p:sp>
          <p:nvSpPr>
            <p:cNvPr id="69" name="Profil 3 – cadre"/>
            <p:cNvSpPr/>
            <p:nvPr/>
          </p:nvSpPr>
          <p:spPr>
            <a:xfrm>
              <a:off x="3830954" y="8851900"/>
              <a:ext cx="1585277" cy="584200"/>
            </a:xfrm>
            <a:prstGeom prst="roundRect">
              <a:avLst>
                <a:gd name="adj" fmla="val 15217"/>
              </a:avLst>
            </a:prstGeom>
            <a:solidFill>
              <a:srgbClr val="FFFFFF"/>
            </a:solidFill>
            <a:ln w="13970">
              <a:solidFill>
                <a:srgbClr val="26408F"/>
              </a:solidFill>
            </a:ln>
            <a:effectLst/>
          </p:spPr>
          <p:txBody>
            <a:bodyPr rtlCol="0" anchor="ctr"/>
            <a:lstStyle/>
            <a:p/>
          </p:txBody>
        </p:sp>
        <p:sp>
          <p:nvSpPr>
            <p:cNvPr id="70" name="Profil 3 – accent"/>
            <p:cNvSpPr/>
            <p:nvPr/>
          </p:nvSpPr>
          <p:spPr>
            <a:xfrm>
              <a:off x="3830954" y="8966200"/>
              <a:ext cx="44450" cy="355600"/>
            </a:xfrm>
            <a:prstGeom prst="rect">
              <a:avLst/>
            </a:prstGeom>
            <a:solidFill>
              <a:srgbClr val="26408F"/>
            </a:solidFill>
            <a:ln>
              <a:noFill/>
            </a:ln>
            <a:effectLst/>
          </p:spPr>
          <p:txBody>
            <a:bodyPr rtlCol="0" anchor="ctr"/>
            <a:lstStyle/>
            <a:p/>
          </p:txBody>
        </p:sp>
        <p:sp>
          <p:nvSpPr>
            <p:cNvPr id="71" name="Profil 3"/>
            <p:cNvSpPr txBox="1"/>
            <p:nvPr/>
          </p:nvSpPr>
          <p:spPr>
            <a:xfrm>
              <a:off x="3983354" y="8851900"/>
              <a:ext cx="1356677" cy="584200"/>
            </a:xfrm>
            <a:prstGeom prst="rect">
              <a:avLst/>
            </a:prstGeom>
            <a:noFill/>
          </p:spPr>
          <p:txBody>
            <a:bodyPr wrap="square" lIns="0" rIns="0" tIns="0" bIns="0" anchor="ctr">
              <a:noAutofit/>
            </a:bodyPr>
            <a:lstStyle/>
            <a:p>
              <a:pPr algn="l">
                <a:lnSpc>
                  <a:spcPct val="110000"/>
                </a:lnSpc>
                <a:spcAft>
                  <a:spcPts val="0"/>
                </a:spcAft>
              </a:pPr>
              <a:r>
                <a:rPr sz="900" b="1" i="0">
                  <a:solidFill>
                    <a:srgbClr val="26408F"/>
                  </a:solidFill>
                  <a:latin typeface="Open Sans"/>
                </a:rPr>
                <a:t>81</a:t>
              </a:r>
              <a:r>
                <a:rPr sz="900" b="1" i="0">
                  <a:solidFill>
                    <a:srgbClr val="2B2B2B"/>
                  </a:solidFill>
                  <a:latin typeface="Open Sans"/>
                </a:rPr>
                <a:t> % de travailleurs handicapés</a:t>
              </a:r>
            </a:p>
          </p:txBody>
        </p:sp>
      </p:grpSp>
      <p:grpSp>
        <p:nvGrpSpPr>
          <p:cNvPr id="76" name="Profil bénéficiaires 4"/>
          <p:cNvGrpSpPr/>
          <p:nvPr/>
        </p:nvGrpSpPr>
        <p:grpSpPr>
          <a:xfrm>
            <a:off x="5517832" y="8851900"/>
            <a:ext cx="1585277" cy="584200"/>
            <a:chOff x="5517832" y="8851900"/>
            <a:chExt cx="1585277" cy="584200"/>
          </a:xfrm>
        </p:grpSpPr>
        <p:sp>
          <p:nvSpPr>
            <p:cNvPr id="73" name="Profil 4 – cadre"/>
            <p:cNvSpPr/>
            <p:nvPr/>
          </p:nvSpPr>
          <p:spPr>
            <a:xfrm>
              <a:off x="5517832" y="8851900"/>
              <a:ext cx="1585277" cy="584200"/>
            </a:xfrm>
            <a:prstGeom prst="roundRect">
              <a:avLst>
                <a:gd name="adj" fmla="val 15217"/>
              </a:avLst>
            </a:prstGeom>
            <a:solidFill>
              <a:srgbClr val="FFFFFF"/>
            </a:solidFill>
            <a:ln w="13970">
              <a:solidFill>
                <a:srgbClr val="36B995"/>
              </a:solidFill>
            </a:ln>
            <a:effectLst/>
          </p:spPr>
          <p:txBody>
            <a:bodyPr rtlCol="0" anchor="ctr"/>
            <a:lstStyle/>
            <a:p/>
          </p:txBody>
        </p:sp>
        <p:sp>
          <p:nvSpPr>
            <p:cNvPr id="74" name="Profil 4 – accent"/>
            <p:cNvSpPr/>
            <p:nvPr/>
          </p:nvSpPr>
          <p:spPr>
            <a:xfrm>
              <a:off x="5517832" y="8966200"/>
              <a:ext cx="44450" cy="355600"/>
            </a:xfrm>
            <a:prstGeom prst="rect">
              <a:avLst/>
            </a:prstGeom>
            <a:solidFill>
              <a:srgbClr val="36B995"/>
            </a:solidFill>
            <a:ln>
              <a:noFill/>
            </a:ln>
            <a:effectLst/>
          </p:spPr>
          <p:txBody>
            <a:bodyPr rtlCol="0" anchor="ctr"/>
            <a:lstStyle/>
            <a:p/>
          </p:txBody>
        </p:sp>
        <p:sp>
          <p:nvSpPr>
            <p:cNvPr id="75" name="Profil 4"/>
            <p:cNvSpPr txBox="1"/>
            <p:nvPr/>
          </p:nvSpPr>
          <p:spPr>
            <a:xfrm>
              <a:off x="5670232" y="8851900"/>
              <a:ext cx="1356677" cy="584200"/>
            </a:xfrm>
            <a:prstGeom prst="rect">
              <a:avLst/>
            </a:prstGeom>
            <a:noFill/>
          </p:spPr>
          <p:txBody>
            <a:bodyPr wrap="square" lIns="0" rIns="0" tIns="0" bIns="0" anchor="ctr">
              <a:noAutofit/>
            </a:bodyPr>
            <a:lstStyle/>
            <a:p>
              <a:pPr algn="l">
                <a:lnSpc>
                  <a:spcPct val="110000"/>
                </a:lnSpc>
                <a:spcAft>
                  <a:spcPts val="0"/>
                </a:spcAft>
              </a:pPr>
              <a:r>
                <a:rPr sz="900" b="1" i="0">
                  <a:solidFill>
                    <a:srgbClr val="36B995"/>
                  </a:solidFill>
                  <a:latin typeface="Open Sans"/>
                </a:rPr>
                <a:t>Moyenne d’âge de 48 ans</a:t>
              </a:r>
            </a:p>
          </p:txBody>
        </p:sp>
      </p:grpSp>
      <p:sp>
        <p:nvSpPr>
          <p:cNvPr id="77" name="Écosystème – texte"/>
          <p:cNvSpPr txBox="1"/>
          <p:nvPr/>
        </p:nvSpPr>
        <p:spPr>
          <a:xfrm>
            <a:off x="457200" y="9575800"/>
            <a:ext cx="6645909" cy="635000"/>
          </a:xfrm>
          <a:prstGeom prst="rect">
            <a:avLst/>
          </a:prstGeom>
          <a:noFill/>
        </p:spPr>
        <p:txBody>
          <a:bodyPr wrap="square" lIns="0" rIns="0" tIns="0" bIns="0" anchor="t">
            <a:noAutofit/>
          </a:bodyPr>
          <a:lstStyle/>
          <a:p>
            <a:pPr algn="l">
              <a:lnSpc>
                <a:spcPct val="122000"/>
              </a:lnSpc>
              <a:spcAft>
                <a:spcPts val="0"/>
              </a:spcAft>
            </a:pPr>
            <a:r>
              <a:rPr sz="860" b="0" i="0">
                <a:solidFill>
                  <a:srgbClr val="2B2B2B"/>
                </a:solidFill>
                <a:latin typeface="Open Sans"/>
              </a:rPr>
              <a:t>EDLC s’appuie sur un écosystème engagé : France Assureurs, Bpifrance (Cap Créa), l’Agefiph, des réseaux d’accompagnement comme l’Adie, France Active, BGE ou France Travail, ainsi que des assureurs partenaires. Cette coopération réunit les compétences nécessaires autour d’un objectif commun : pérenniser les micro-entreprises nouvellement créées.</a:t>
            </a:r>
          </a:p>
        </p:txBody>
      </p:sp>
      <p:cxnSp>
        <p:nvCxnSpPr>
          <p:cNvPr id="78" name="Pied de page – filet"/>
          <p:cNvCxnSpPr/>
          <p:nvPr/>
        </p:nvCxnSpPr>
        <p:spPr>
          <a:xfrm>
            <a:off x="457200" y="10260330"/>
            <a:ext cx="6645909" cy="0"/>
          </a:xfrm>
          <a:prstGeom prst="line">
            <a:avLst/>
          </a:prstGeom>
          <a:ln w="9525">
            <a:solidFill>
              <a:srgbClr val="EF3F34"/>
            </a:solidFill>
          </a:ln>
        </p:spPr>
      </p:cxnSp>
      <p:sp>
        <p:nvSpPr>
          <p:cNvPr id="79" name="Pied de page"/>
          <p:cNvSpPr txBox="1"/>
          <p:nvPr/>
        </p:nvSpPr>
        <p:spPr>
          <a:xfrm>
            <a:off x="457200" y="10349230"/>
            <a:ext cx="6645909" cy="127000"/>
          </a:xfrm>
          <a:prstGeom prst="rect">
            <a:avLst/>
          </a:prstGeom>
          <a:noFill/>
        </p:spPr>
        <p:txBody>
          <a:bodyPr wrap="square" lIns="0" rIns="0" tIns="0" bIns="0" anchor="t">
            <a:noAutofit/>
          </a:bodyPr>
          <a:lstStyle/>
          <a:p>
            <a:pPr algn="ctr">
              <a:lnSpc>
                <a:spcPct val="120000"/>
              </a:lnSpc>
              <a:spcAft>
                <a:spcPts val="0"/>
              </a:spcAft>
            </a:pPr>
            <a:r>
              <a:rPr sz="680" b="1" i="0" spc="30">
                <a:solidFill>
                  <a:srgbClr val="EF3F34"/>
                </a:solidFill>
                <a:latin typeface="Open Sans"/>
              </a:rPr>
              <a:t>ENTREPRENEURS DE LA CITÉ</a:t>
            </a:r>
            <a:r>
              <a:rPr sz="680" b="0" i="0" spc="30">
                <a:solidFill>
                  <a:srgbClr val="6B6B6B"/>
                </a:solidFill>
                <a:latin typeface="Open Sans"/>
              </a:rPr>
              <a:t>  •  Prévenir, protéger, pérenniser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ndeau haut corail"/>
          <p:cNvSpPr/>
          <p:nvPr/>
        </p:nvSpPr>
        <p:spPr>
          <a:xfrm>
            <a:off x="0" y="0"/>
            <a:ext cx="7560309" cy="88900"/>
          </a:xfrm>
          <a:prstGeom prst="rect">
            <a:avLst/>
          </a:prstGeom>
          <a:solidFill>
            <a:srgbClr val="EF3F34"/>
          </a:solidFill>
          <a:ln>
            <a:noFill/>
          </a:ln>
          <a:effectLst/>
        </p:spPr>
        <p:txBody>
          <a:bodyPr rtlCol="0" anchor="ctr"/>
          <a:lstStyle/>
          <a:p/>
        </p:txBody>
      </p:sp>
      <p:sp>
        <p:nvSpPr>
          <p:cNvPr id="3" name="En-tête"/>
          <p:cNvSpPr txBox="1"/>
          <p:nvPr/>
        </p:nvSpPr>
        <p:spPr>
          <a:xfrm>
            <a:off x="3293109" y="190500"/>
            <a:ext cx="3810000" cy="127000"/>
          </a:xfrm>
          <a:prstGeom prst="rect">
            <a:avLst/>
          </a:prstGeom>
          <a:noFill/>
        </p:spPr>
        <p:txBody>
          <a:bodyPr wrap="square" lIns="0" rIns="0" tIns="0" bIns="0" anchor="t">
            <a:noAutofit/>
          </a:bodyPr>
          <a:lstStyle/>
          <a:p>
            <a:pPr algn="r">
              <a:lnSpc>
                <a:spcPct val="120000"/>
              </a:lnSpc>
              <a:spcAft>
                <a:spcPts val="0"/>
              </a:spcAft>
            </a:pPr>
            <a:r>
              <a:rPr sz="650" b="0" i="0" spc="40">
                <a:solidFill>
                  <a:srgbClr val="6B6B6B"/>
                </a:solidFill>
                <a:latin typeface="Open Sans"/>
              </a:rPr>
              <a:t>ENTREPRENEURS DE LA CITÉ  |  FONDATION RECONNUE D’UTILITÉ PUBLIQUE</a:t>
            </a:r>
          </a:p>
        </p:txBody>
      </p:sp>
      <p:pic>
        <p:nvPicPr>
          <p:cNvPr id="4" name="Logo EDLC" descr="logo_edlc_crop.png"/>
          <p:cNvPicPr>
            <a:picLocks noChangeAspect="1"/>
          </p:cNvPicPr>
          <p:nvPr/>
        </p:nvPicPr>
        <p:blipFill>
          <a:blip r:embed="rId2"/>
          <a:stretch>
            <a:fillRect/>
          </a:stretch>
        </p:blipFill>
        <p:spPr>
          <a:xfrm>
            <a:off x="457200" y="330200"/>
            <a:ext cx="1397000" cy="413313"/>
          </a:xfrm>
          <a:prstGeom prst="rect">
            <a:avLst/>
          </a:prstGeom>
        </p:spPr>
      </p:pic>
      <p:sp>
        <p:nvSpPr>
          <p:cNvPr id="5" name="Votre don, un levier d’action concret – repère"/>
          <p:cNvSpPr/>
          <p:nvPr/>
        </p:nvSpPr>
        <p:spPr>
          <a:xfrm>
            <a:off x="457200" y="1079500"/>
            <a:ext cx="57150" cy="266700"/>
          </a:xfrm>
          <a:prstGeom prst="roundRect">
            <a:avLst>
              <a:gd name="adj" fmla="val 48888"/>
            </a:avLst>
          </a:prstGeom>
          <a:solidFill>
            <a:srgbClr val="EF3F34"/>
          </a:solidFill>
          <a:ln>
            <a:noFill/>
          </a:ln>
          <a:effectLst/>
        </p:spPr>
        <p:txBody>
          <a:bodyPr rtlCol="0" anchor="ctr"/>
          <a:lstStyle/>
          <a:p/>
        </p:txBody>
      </p:sp>
      <p:sp>
        <p:nvSpPr>
          <p:cNvPr id="6" name="Votre don, un levier d’action concret"/>
          <p:cNvSpPr txBox="1"/>
          <p:nvPr/>
        </p:nvSpPr>
        <p:spPr>
          <a:xfrm>
            <a:off x="596900" y="1041400"/>
            <a:ext cx="6506209" cy="361950"/>
          </a:xfrm>
          <a:prstGeom prst="rect">
            <a:avLst/>
          </a:prstGeom>
          <a:noFill/>
        </p:spPr>
        <p:txBody>
          <a:bodyPr wrap="square" lIns="0" rIns="0" tIns="0" bIns="0" anchor="t">
            <a:noAutofit/>
          </a:bodyPr>
          <a:lstStyle/>
          <a:p>
            <a:pPr algn="l">
              <a:lnSpc>
                <a:spcPct val="100000"/>
              </a:lnSpc>
              <a:spcAft>
                <a:spcPts val="0"/>
              </a:spcAft>
            </a:pPr>
            <a:r>
              <a:rPr sz="1900" b="1" i="0">
                <a:solidFill>
                  <a:srgbClr val="EF3F34"/>
                </a:solidFill>
                <a:latin typeface="Poppins"/>
              </a:rPr>
              <a:t>Votre don, un levier d’action concret</a:t>
            </a:r>
          </a:p>
        </p:txBody>
      </p:sp>
      <p:sp>
        <p:nvSpPr>
          <p:cNvPr id="7" name="Levier – texte"/>
          <p:cNvSpPr txBox="1"/>
          <p:nvPr/>
        </p:nvSpPr>
        <p:spPr>
          <a:xfrm>
            <a:off x="457200" y="1435100"/>
            <a:ext cx="6645909" cy="508000"/>
          </a:xfrm>
          <a:prstGeom prst="rect">
            <a:avLst/>
          </a:prstGeom>
          <a:noFill/>
        </p:spPr>
        <p:txBody>
          <a:bodyPr wrap="square" lIns="0" rIns="0" tIns="0" bIns="0" anchor="t">
            <a:noAutofit/>
          </a:bodyPr>
          <a:lstStyle/>
          <a:p>
            <a:pPr algn="l">
              <a:lnSpc>
                <a:spcPct val="125000"/>
              </a:lnSpc>
              <a:spcAft>
                <a:spcPts val="0"/>
              </a:spcAft>
            </a:pPr>
            <a:r>
              <a:rPr sz="900" b="0" i="0">
                <a:solidFill>
                  <a:srgbClr val="2B2B2B"/>
                </a:solidFill>
                <a:latin typeface="Open Sans"/>
              </a:rPr>
              <a:t>En devenant mécène, votre entreprise contribue à financer la solidarité au cœur de notre modèle : pas de frais de gestion ni de commission sur la gestion des solutions, des protections accessibles et des actions de prévention au plus près des entrepreneurs.</a:t>
            </a:r>
          </a:p>
        </p:txBody>
      </p:sp>
      <p:sp>
        <p:nvSpPr>
          <p:cNvPr id="8" name="Quel est l’impact concret de votre soutien ?"/>
          <p:cNvSpPr txBox="1"/>
          <p:nvPr/>
        </p:nvSpPr>
        <p:spPr>
          <a:xfrm>
            <a:off x="457200" y="1993900"/>
            <a:ext cx="6645909" cy="219075"/>
          </a:xfrm>
          <a:prstGeom prst="rect">
            <a:avLst/>
          </a:prstGeom>
          <a:noFill/>
        </p:spPr>
        <p:txBody>
          <a:bodyPr wrap="square" lIns="0" rIns="0" tIns="0" bIns="0" anchor="t">
            <a:noAutofit/>
          </a:bodyPr>
          <a:lstStyle/>
          <a:p>
            <a:pPr algn="l">
              <a:lnSpc>
                <a:spcPct val="100000"/>
              </a:lnSpc>
              <a:spcAft>
                <a:spcPts val="0"/>
              </a:spcAft>
            </a:pPr>
            <a:r>
              <a:rPr sz="1150" b="1" i="0">
                <a:solidFill>
                  <a:srgbClr val="26408F"/>
                </a:solidFill>
                <a:latin typeface="Poppins"/>
              </a:rPr>
              <a:t>Quel est l’impact concret de votre soutien ?</a:t>
            </a:r>
          </a:p>
        </p:txBody>
      </p:sp>
      <p:graphicFrame>
        <p:nvGraphicFramePr>
          <p:cNvPr id="9" name="Tableau impact du don"/>
          <p:cNvGraphicFramePr>
            <a:graphicFrameLocks noGrp="1"/>
          </p:cNvGraphicFramePr>
          <p:nvPr/>
        </p:nvGraphicFramePr>
        <p:xfrm>
          <a:off x="457200" y="2247900"/>
          <a:ext cx="6645909" cy="2273300"/>
        </p:xfrm>
        <a:graphic>
          <a:graphicData uri="http://schemas.openxmlformats.org/drawingml/2006/table">
            <a:tbl>
              <a:tblPr firstRow="0" bandRow="0">
                <a:tableStyleId>{5C22544A-7EE6-4342-B048-85BDC9FD1C3A}</a:tableStyleId>
              </a:tblPr>
              <a:tblGrid>
                <a:gridCol w="1524000"/>
                <a:gridCol w="5121909"/>
              </a:tblGrid>
              <a:tr h="254000">
                <a:tc>
                  <a:txBody>
                    <a:bodyPr wrap="square"/>
                    <a:lstStyle/>
                    <a:p>
                      <a:pPr algn="ctr">
                        <a:lnSpc>
                          <a:spcPct val="100000"/>
                        </a:lnSpc>
                      </a:pPr>
                      <a:r>
                        <a:rPr sz="800" b="1">
                          <a:solidFill>
                            <a:srgbClr val="FFFFFF"/>
                          </a:solidFill>
                          <a:latin typeface="Open Sans"/>
                        </a:rPr>
                        <a:t>DON</a:t>
                      </a:r>
                    </a:p>
                  </a:txBody>
                  <a:tcPr marL="76200" marR="76200" marT="25400" marB="25400" anchor="ctr">
                    <a:solidFill>
                      <a:srgbClr val="26408F"/>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c>
                  <a:txBody>
                    <a:bodyPr wrap="square"/>
                    <a:lstStyle/>
                    <a:p>
                      <a:pPr algn="ctr">
                        <a:lnSpc>
                          <a:spcPct val="100000"/>
                        </a:lnSpc>
                      </a:pPr>
                      <a:r>
                        <a:rPr sz="800" b="1">
                          <a:solidFill>
                            <a:srgbClr val="FFFFFF"/>
                          </a:solidFill>
                          <a:latin typeface="Open Sans"/>
                        </a:rPr>
                        <a:t>Impact mesurable</a:t>
                      </a:r>
                    </a:p>
                  </a:txBody>
                  <a:tcPr marL="76200" marR="76200" marT="25400" marB="25400" anchor="ctr">
                    <a:solidFill>
                      <a:srgbClr val="26408F"/>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r>
              <a:tr h="304800">
                <a:tc>
                  <a:txBody>
                    <a:bodyPr wrap="square"/>
                    <a:lstStyle/>
                    <a:p>
                      <a:pPr algn="ctr">
                        <a:lnSpc>
                          <a:spcPct val="100000"/>
                        </a:lnSpc>
                      </a:pPr>
                      <a:r>
                        <a:rPr sz="1100" b="1">
                          <a:solidFill>
                            <a:srgbClr val="26408F"/>
                          </a:solidFill>
                          <a:latin typeface="Open Sans"/>
                        </a:rPr>
                        <a:t>5 000 €</a:t>
                      </a:r>
                    </a:p>
                  </a:txBody>
                  <a:tcPr marL="76200" marR="76200" marT="25400" marB="25400" anchor="ctr">
                    <a:solidFill>
                      <a:srgbClr val="FFCB1F"/>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c>
                  <a:txBody>
                    <a:bodyPr wrap="square"/>
                    <a:lstStyle/>
                    <a:p>
                      <a:pPr algn="ctr">
                        <a:lnSpc>
                          <a:spcPct val="100000"/>
                        </a:lnSpc>
                      </a:pPr>
                      <a:r>
                        <a:rPr sz="800" b="1">
                          <a:solidFill>
                            <a:srgbClr val="2B2B2B"/>
                          </a:solidFill>
                          <a:latin typeface="Open Sans"/>
                        </a:rPr>
                        <a:t>30 entrepreneurs</a:t>
                      </a:r>
                      <a:r>
                        <a:rPr sz="800" b="0">
                          <a:solidFill>
                            <a:srgbClr val="2B2B2B"/>
                          </a:solidFill>
                          <a:latin typeface="Open Sans"/>
                        </a:rPr>
                        <a:t> accèdent à l’assurance sociale et solidaire et sont accompagnés pendant 1 an</a:t>
                      </a:r>
                    </a:p>
                  </a:txBody>
                  <a:tcPr marL="76200" marR="76200" marT="25400" marB="25400" anchor="ctr">
                    <a:solidFill>
                      <a:srgbClr val="FFF5D2"/>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r>
              <a:tr h="571500">
                <a:tc>
                  <a:txBody>
                    <a:bodyPr wrap="square"/>
                    <a:lstStyle/>
                    <a:p>
                      <a:pPr algn="ctr">
                        <a:lnSpc>
                          <a:spcPct val="100000"/>
                        </a:lnSpc>
                      </a:pPr>
                      <a:r>
                        <a:rPr sz="1100" b="1">
                          <a:solidFill>
                            <a:srgbClr val="FFFFFF"/>
                          </a:solidFill>
                          <a:latin typeface="Open Sans"/>
                        </a:rPr>
                        <a:t>10 000 €</a:t>
                      </a:r>
                    </a:p>
                  </a:txBody>
                  <a:tcPr marL="76200" marR="76200" marT="25400" marB="25400" anchor="ctr">
                    <a:solidFill>
                      <a:srgbClr val="F89410"/>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c>
                  <a:txBody>
                    <a:bodyPr wrap="square"/>
                    <a:lstStyle/>
                    <a:p>
                      <a:pPr algn="ctr">
                        <a:lnSpc>
                          <a:spcPct val="100000"/>
                        </a:lnSpc>
                      </a:pPr>
                      <a:r>
                        <a:rPr sz="800" b="1">
                          <a:solidFill>
                            <a:srgbClr val="2B2B2B"/>
                          </a:solidFill>
                          <a:latin typeface="Open Sans"/>
                        </a:rPr>
                        <a:t>60 entrepreneurs</a:t>
                      </a:r>
                      <a:r>
                        <a:rPr sz="800" b="0">
                          <a:solidFill>
                            <a:srgbClr val="2B2B2B"/>
                          </a:solidFill>
                          <a:latin typeface="Open Sans"/>
                        </a:rPr>
                        <a:t> accèdent à l’assurance sociale et solidaire </a:t>
                      </a:r>
                    </a:p>
                    <a:p>
                      <a:pPr algn="ctr">
                        <a:lnSpc>
                          <a:spcPct val="100000"/>
                        </a:lnSpc>
                      </a:pPr>
                      <a:r>
                        <a:rPr sz="800" b="0">
                          <a:solidFill>
                            <a:srgbClr val="2B2B2B"/>
                          </a:solidFill>
                          <a:latin typeface="Open Sans"/>
                        </a:rPr>
                        <a:t>ou</a:t>
                      </a:r>
                    </a:p>
                    <a:p>
                      <a:pPr algn="ctr">
                        <a:lnSpc>
                          <a:spcPct val="100000"/>
                        </a:lnSpc>
                      </a:pPr>
                      <a:r>
                        <a:rPr sz="800" b="1">
                          <a:solidFill>
                            <a:srgbClr val="2B2B2B"/>
                          </a:solidFill>
                          <a:latin typeface="Open Sans"/>
                        </a:rPr>
                        <a:t>44 entrepreneurs</a:t>
                      </a:r>
                      <a:r>
                        <a:rPr sz="800" b="0">
                          <a:solidFill>
                            <a:srgbClr val="2B2B2B"/>
                          </a:solidFill>
                          <a:latin typeface="Open Sans"/>
                        </a:rPr>
                        <a:t> sont formés à la gestion des risques liés à l’entrepreneuriat</a:t>
                      </a:r>
                    </a:p>
                  </a:txBody>
                  <a:tcPr marL="76200" marR="76200" marT="25400" marB="25400" anchor="ctr">
                    <a:solidFill>
                      <a:srgbClr val="FEEFDB"/>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r>
              <a:tr h="571500">
                <a:tc>
                  <a:txBody>
                    <a:bodyPr wrap="square"/>
                    <a:lstStyle/>
                    <a:p>
                      <a:pPr algn="ctr">
                        <a:lnSpc>
                          <a:spcPct val="100000"/>
                        </a:lnSpc>
                      </a:pPr>
                      <a:r>
                        <a:rPr sz="1100" b="1">
                          <a:solidFill>
                            <a:srgbClr val="FFFFFF"/>
                          </a:solidFill>
                          <a:latin typeface="Open Sans"/>
                        </a:rPr>
                        <a:t>20 000 €</a:t>
                      </a:r>
                    </a:p>
                  </a:txBody>
                  <a:tcPr marL="76200" marR="76200" marT="25400" marB="25400" anchor="ctr">
                    <a:solidFill>
                      <a:srgbClr val="EF3F34"/>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c>
                  <a:txBody>
                    <a:bodyPr wrap="square"/>
                    <a:lstStyle/>
                    <a:p>
                      <a:pPr algn="ctr">
                        <a:lnSpc>
                          <a:spcPct val="100000"/>
                        </a:lnSpc>
                      </a:pPr>
                      <a:r>
                        <a:rPr sz="800" b="1">
                          <a:solidFill>
                            <a:srgbClr val="2B2B2B"/>
                          </a:solidFill>
                          <a:latin typeface="Open Sans"/>
                        </a:rPr>
                        <a:t>120 entrepreneurs</a:t>
                      </a:r>
                      <a:r>
                        <a:rPr sz="800" b="0">
                          <a:solidFill>
                            <a:srgbClr val="2B2B2B"/>
                          </a:solidFill>
                          <a:latin typeface="Open Sans"/>
                        </a:rPr>
                        <a:t> accèdent à l’assurance sociale et solidaire </a:t>
                      </a:r>
                    </a:p>
                    <a:p>
                      <a:pPr algn="ctr">
                        <a:lnSpc>
                          <a:spcPct val="100000"/>
                        </a:lnSpc>
                      </a:pPr>
                      <a:r>
                        <a:rPr sz="800" b="0">
                          <a:solidFill>
                            <a:srgbClr val="2B2B2B"/>
                          </a:solidFill>
                          <a:latin typeface="Open Sans"/>
                        </a:rPr>
                        <a:t>ou</a:t>
                      </a:r>
                    </a:p>
                    <a:p>
                      <a:pPr algn="ctr">
                        <a:lnSpc>
                          <a:spcPct val="100000"/>
                        </a:lnSpc>
                      </a:pPr>
                      <a:r>
                        <a:rPr sz="800" b="1">
                          <a:solidFill>
                            <a:srgbClr val="2B2B2B"/>
                          </a:solidFill>
                          <a:latin typeface="Open Sans"/>
                        </a:rPr>
                        <a:t>88 entrepreneurs</a:t>
                      </a:r>
                      <a:r>
                        <a:rPr sz="800" b="0">
                          <a:solidFill>
                            <a:srgbClr val="2B2B2B"/>
                          </a:solidFill>
                          <a:latin typeface="Open Sans"/>
                        </a:rPr>
                        <a:t> sont formés à la gestion des risques</a:t>
                      </a:r>
                    </a:p>
                  </a:txBody>
                  <a:tcPr marL="76200" marR="76200" marT="25400" marB="25400" anchor="ctr">
                    <a:solidFill>
                      <a:srgbClr val="FDE8E6"/>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r>
              <a:tr h="571500">
                <a:tc>
                  <a:txBody>
                    <a:bodyPr wrap="square"/>
                    <a:lstStyle/>
                    <a:p>
                      <a:pPr algn="ctr">
                        <a:lnSpc>
                          <a:spcPct val="100000"/>
                        </a:lnSpc>
                      </a:pPr>
                      <a:r>
                        <a:rPr sz="1100" b="1">
                          <a:solidFill>
                            <a:srgbClr val="FFFFFF"/>
                          </a:solidFill>
                          <a:latin typeface="Open Sans"/>
                        </a:rPr>
                        <a:t>50 000 €</a:t>
                      </a:r>
                    </a:p>
                  </a:txBody>
                  <a:tcPr marL="76200" marR="76200" marT="25400" marB="25400" anchor="ctr">
                    <a:solidFill>
                      <a:srgbClr val="26408F"/>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c>
                  <a:txBody>
                    <a:bodyPr wrap="square"/>
                    <a:lstStyle/>
                    <a:p>
                      <a:pPr algn="ctr">
                        <a:lnSpc>
                          <a:spcPct val="100000"/>
                        </a:lnSpc>
                      </a:pPr>
                      <a:r>
                        <a:rPr sz="800" b="1">
                          <a:solidFill>
                            <a:srgbClr val="2B2B2B"/>
                          </a:solidFill>
                          <a:latin typeface="Open Sans"/>
                        </a:rPr>
                        <a:t>300 entrepreneurs</a:t>
                      </a:r>
                      <a:r>
                        <a:rPr sz="800" b="0">
                          <a:solidFill>
                            <a:srgbClr val="2B2B2B"/>
                          </a:solidFill>
                          <a:latin typeface="Open Sans"/>
                        </a:rPr>
                        <a:t> accèdent à l’assurance sociale et solidaire </a:t>
                      </a:r>
                    </a:p>
                    <a:p>
                      <a:pPr algn="ctr">
                        <a:lnSpc>
                          <a:spcPct val="100000"/>
                        </a:lnSpc>
                      </a:pPr>
                      <a:r>
                        <a:rPr sz="800" b="0">
                          <a:solidFill>
                            <a:srgbClr val="2B2B2B"/>
                          </a:solidFill>
                          <a:latin typeface="Open Sans"/>
                        </a:rPr>
                        <a:t>ou</a:t>
                      </a:r>
                    </a:p>
                    <a:p>
                      <a:pPr algn="ctr">
                        <a:lnSpc>
                          <a:spcPct val="100000"/>
                        </a:lnSpc>
                      </a:pPr>
                      <a:r>
                        <a:rPr sz="800" b="1">
                          <a:solidFill>
                            <a:srgbClr val="2B2B2B"/>
                          </a:solidFill>
                          <a:latin typeface="Open Sans"/>
                        </a:rPr>
                        <a:t>220 entrepreneurs</a:t>
                      </a:r>
                      <a:r>
                        <a:rPr sz="800" b="0">
                          <a:solidFill>
                            <a:srgbClr val="2B2B2B"/>
                          </a:solidFill>
                          <a:latin typeface="Open Sans"/>
                        </a:rPr>
                        <a:t> sont formés à la gestion des risques</a:t>
                      </a:r>
                    </a:p>
                  </a:txBody>
                  <a:tcPr marL="76200" marR="76200" marT="25400" marB="25400" anchor="ctr">
                    <a:solidFill>
                      <a:srgbClr val="E6EAF5"/>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r>
            </a:tbl>
          </a:graphicData>
        </a:graphic>
      </p:graphicFrame>
      <p:sp>
        <p:nvSpPr>
          <p:cNvPr id="10" name="Quel est le coût net de votre mécénat ?"/>
          <p:cNvSpPr txBox="1"/>
          <p:nvPr/>
        </p:nvSpPr>
        <p:spPr>
          <a:xfrm>
            <a:off x="457200" y="4699000"/>
            <a:ext cx="6645909" cy="219075"/>
          </a:xfrm>
          <a:prstGeom prst="rect">
            <a:avLst/>
          </a:prstGeom>
          <a:noFill/>
        </p:spPr>
        <p:txBody>
          <a:bodyPr wrap="square" lIns="0" rIns="0" tIns="0" bIns="0" anchor="t">
            <a:noAutofit/>
          </a:bodyPr>
          <a:lstStyle/>
          <a:p>
            <a:pPr algn="l">
              <a:lnSpc>
                <a:spcPct val="100000"/>
              </a:lnSpc>
              <a:spcAft>
                <a:spcPts val="0"/>
              </a:spcAft>
            </a:pPr>
            <a:r>
              <a:rPr sz="1150" b="1" i="0">
                <a:solidFill>
                  <a:srgbClr val="26408F"/>
                </a:solidFill>
                <a:latin typeface="Poppins"/>
              </a:rPr>
              <a:t>Quel est le coût net de votre mécénat ?</a:t>
            </a:r>
          </a:p>
        </p:txBody>
      </p:sp>
      <p:sp>
        <p:nvSpPr>
          <p:cNvPr id="11" name="Coût net – texte"/>
          <p:cNvSpPr txBox="1"/>
          <p:nvPr/>
        </p:nvSpPr>
        <p:spPr>
          <a:xfrm>
            <a:off x="457200" y="4953000"/>
            <a:ext cx="6645909" cy="330200"/>
          </a:xfrm>
          <a:prstGeom prst="rect">
            <a:avLst/>
          </a:prstGeom>
          <a:noFill/>
        </p:spPr>
        <p:txBody>
          <a:bodyPr wrap="square" lIns="0" rIns="0" tIns="0" bIns="0" anchor="t">
            <a:noAutofit/>
          </a:bodyPr>
          <a:lstStyle/>
          <a:p>
            <a:pPr algn="l">
              <a:lnSpc>
                <a:spcPct val="125000"/>
              </a:lnSpc>
              <a:spcAft>
                <a:spcPts val="0"/>
              </a:spcAft>
            </a:pPr>
            <a:r>
              <a:rPr sz="900" b="0" i="0">
                <a:solidFill>
                  <a:srgbClr val="2B2B2B"/>
                </a:solidFill>
                <a:latin typeface="Open Sans"/>
              </a:rPr>
              <a:t>À titre indicatif, pour une entreprise éligible au régime français du mécénat, la réduction d’impôt est de 60 % du don dans la limite des plafonds légaux applicables*.</a:t>
            </a:r>
          </a:p>
        </p:txBody>
      </p:sp>
      <p:graphicFrame>
        <p:nvGraphicFramePr>
          <p:cNvPr id="12" name="Tableau coût net du mécénat"/>
          <p:cNvGraphicFramePr>
            <a:graphicFrameLocks noGrp="1"/>
          </p:cNvGraphicFramePr>
          <p:nvPr/>
        </p:nvGraphicFramePr>
        <p:xfrm>
          <a:off x="457200" y="5384800"/>
          <a:ext cx="4724400" cy="1371600"/>
        </p:xfrm>
        <a:graphic>
          <a:graphicData uri="http://schemas.openxmlformats.org/drawingml/2006/table">
            <a:tbl>
              <a:tblPr firstRow="0" bandRow="0">
                <a:tableStyleId>{5C22544A-7EE6-4342-B048-85BDC9FD1C3A}</a:tableStyleId>
              </a:tblPr>
              <a:tblGrid>
                <a:gridCol w="1397000"/>
                <a:gridCol w="1803400"/>
                <a:gridCol w="1524000"/>
              </a:tblGrid>
              <a:tr h="381000">
                <a:tc>
                  <a:txBody>
                    <a:bodyPr wrap="square"/>
                    <a:lstStyle/>
                    <a:p>
                      <a:pPr algn="ctr">
                        <a:lnSpc>
                          <a:spcPct val="100000"/>
                        </a:lnSpc>
                      </a:pPr>
                      <a:r>
                        <a:rPr sz="720" b="1">
                          <a:solidFill>
                            <a:srgbClr val="FFFFFF"/>
                          </a:solidFill>
                          <a:latin typeface="Open Sans"/>
                        </a:rPr>
                        <a:t>DON</a:t>
                      </a:r>
                    </a:p>
                  </a:txBody>
                  <a:tcPr marL="76200" marR="76200" marT="25400" marB="25400" anchor="ctr">
                    <a:solidFill>
                      <a:srgbClr val="26408F"/>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c>
                  <a:txBody>
                    <a:bodyPr wrap="square"/>
                    <a:lstStyle/>
                    <a:p>
                      <a:pPr algn="ctr">
                        <a:lnSpc>
                          <a:spcPct val="100000"/>
                        </a:lnSpc>
                      </a:pPr>
                      <a:r>
                        <a:rPr sz="720" b="1">
                          <a:solidFill>
                            <a:srgbClr val="FFFFFF"/>
                          </a:solidFill>
                          <a:latin typeface="Open Sans"/>
                        </a:rPr>
                        <a:t>RÉDUCTION D’IMPÔT</a:t>
                      </a:r>
                    </a:p>
                    <a:p>
                      <a:pPr algn="ctr">
                        <a:lnSpc>
                          <a:spcPct val="100000"/>
                        </a:lnSpc>
                      </a:pPr>
                      <a:r>
                        <a:rPr sz="720" b="1">
                          <a:solidFill>
                            <a:srgbClr val="FFFFFF"/>
                          </a:solidFill>
                          <a:latin typeface="Open Sans"/>
                        </a:rPr>
                        <a:t>INDICATIVE (60 %)</a:t>
                      </a:r>
                    </a:p>
                  </a:txBody>
                  <a:tcPr marL="76200" marR="76200" marT="25400" marB="25400" anchor="ctr">
                    <a:solidFill>
                      <a:srgbClr val="26408F"/>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c>
                  <a:txBody>
                    <a:bodyPr wrap="square"/>
                    <a:lstStyle/>
                    <a:p>
                      <a:pPr algn="ctr">
                        <a:lnSpc>
                          <a:spcPct val="100000"/>
                        </a:lnSpc>
                      </a:pPr>
                      <a:r>
                        <a:rPr sz="720" b="1">
                          <a:solidFill>
                            <a:srgbClr val="FFFFFF"/>
                          </a:solidFill>
                          <a:latin typeface="Open Sans"/>
                        </a:rPr>
                        <a:t>COÛT NET</a:t>
                      </a:r>
                    </a:p>
                    <a:p>
                      <a:pPr algn="ctr">
                        <a:lnSpc>
                          <a:spcPct val="100000"/>
                        </a:lnSpc>
                      </a:pPr>
                      <a:r>
                        <a:rPr sz="720" b="1">
                          <a:solidFill>
                            <a:srgbClr val="FFFFFF"/>
                          </a:solidFill>
                          <a:latin typeface="Open Sans"/>
                        </a:rPr>
                        <a:t>INDICATIF</a:t>
                      </a:r>
                    </a:p>
                  </a:txBody>
                  <a:tcPr marL="76200" marR="76200" marT="25400" marB="25400" anchor="ctr">
                    <a:solidFill>
                      <a:srgbClr val="26408F"/>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r>
              <a:tr h="247650">
                <a:tc>
                  <a:txBody>
                    <a:bodyPr wrap="square"/>
                    <a:lstStyle/>
                    <a:p>
                      <a:pPr algn="ctr">
                        <a:lnSpc>
                          <a:spcPct val="100000"/>
                        </a:lnSpc>
                      </a:pPr>
                      <a:r>
                        <a:rPr sz="900" b="1">
                          <a:solidFill>
                            <a:srgbClr val="26408F"/>
                          </a:solidFill>
                          <a:latin typeface="Open Sans"/>
                        </a:rPr>
                        <a:t>5 000 €</a:t>
                      </a:r>
                    </a:p>
                  </a:txBody>
                  <a:tcPr marL="76200" marR="76200" marT="25400" marB="25400" anchor="ctr">
                    <a:solidFill>
                      <a:srgbClr val="FFFFFF"/>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c>
                  <a:txBody>
                    <a:bodyPr wrap="square"/>
                    <a:lstStyle/>
                    <a:p>
                      <a:pPr algn="ctr">
                        <a:lnSpc>
                          <a:spcPct val="100000"/>
                        </a:lnSpc>
                      </a:pPr>
                      <a:r>
                        <a:rPr sz="880" b="0">
                          <a:solidFill>
                            <a:srgbClr val="2B2B2B"/>
                          </a:solidFill>
                          <a:latin typeface="Open Sans"/>
                        </a:rPr>
                        <a:t>3 000 €</a:t>
                      </a:r>
                    </a:p>
                  </a:txBody>
                  <a:tcPr marL="76200" marR="76200" marT="25400" marB="25400" anchor="ctr">
                    <a:solidFill>
                      <a:srgbClr val="FFFFFF"/>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c>
                  <a:txBody>
                    <a:bodyPr wrap="square"/>
                    <a:lstStyle/>
                    <a:p>
                      <a:pPr algn="ctr">
                        <a:lnSpc>
                          <a:spcPct val="100000"/>
                        </a:lnSpc>
                      </a:pPr>
                      <a:r>
                        <a:rPr sz="900" b="1">
                          <a:solidFill>
                            <a:srgbClr val="EF3F34"/>
                          </a:solidFill>
                          <a:latin typeface="Open Sans"/>
                        </a:rPr>
                        <a:t>2 000 €</a:t>
                      </a:r>
                    </a:p>
                  </a:txBody>
                  <a:tcPr marL="76200" marR="76200" marT="25400" marB="25400" anchor="ctr">
                    <a:solidFill>
                      <a:srgbClr val="FDE8E6"/>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r>
              <a:tr h="247650">
                <a:tc>
                  <a:txBody>
                    <a:bodyPr wrap="square"/>
                    <a:lstStyle/>
                    <a:p>
                      <a:pPr algn="ctr">
                        <a:lnSpc>
                          <a:spcPct val="100000"/>
                        </a:lnSpc>
                      </a:pPr>
                      <a:r>
                        <a:rPr sz="900" b="1">
                          <a:solidFill>
                            <a:srgbClr val="26408F"/>
                          </a:solidFill>
                          <a:latin typeface="Open Sans"/>
                        </a:rPr>
                        <a:t>10 000 €</a:t>
                      </a:r>
                    </a:p>
                  </a:txBody>
                  <a:tcPr marL="76200" marR="76200" marT="25400" marB="25400" anchor="ctr">
                    <a:solidFill>
                      <a:srgbClr val="F6F7FB"/>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c>
                  <a:txBody>
                    <a:bodyPr wrap="square"/>
                    <a:lstStyle/>
                    <a:p>
                      <a:pPr algn="ctr">
                        <a:lnSpc>
                          <a:spcPct val="100000"/>
                        </a:lnSpc>
                      </a:pPr>
                      <a:r>
                        <a:rPr sz="880" b="0">
                          <a:solidFill>
                            <a:srgbClr val="2B2B2B"/>
                          </a:solidFill>
                          <a:latin typeface="Open Sans"/>
                        </a:rPr>
                        <a:t>6 000 €</a:t>
                      </a:r>
                    </a:p>
                  </a:txBody>
                  <a:tcPr marL="76200" marR="76200" marT="25400" marB="25400" anchor="ctr">
                    <a:solidFill>
                      <a:srgbClr val="F6F7FB"/>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c>
                  <a:txBody>
                    <a:bodyPr wrap="square"/>
                    <a:lstStyle/>
                    <a:p>
                      <a:pPr algn="ctr">
                        <a:lnSpc>
                          <a:spcPct val="100000"/>
                        </a:lnSpc>
                      </a:pPr>
                      <a:r>
                        <a:rPr sz="900" b="1">
                          <a:solidFill>
                            <a:srgbClr val="EF3F34"/>
                          </a:solidFill>
                          <a:latin typeface="Open Sans"/>
                        </a:rPr>
                        <a:t>4 000 €</a:t>
                      </a:r>
                    </a:p>
                  </a:txBody>
                  <a:tcPr marL="76200" marR="76200" marT="25400" marB="25400" anchor="ctr">
                    <a:solidFill>
                      <a:srgbClr val="FDE8E6"/>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r>
              <a:tr h="247650">
                <a:tc>
                  <a:txBody>
                    <a:bodyPr wrap="square"/>
                    <a:lstStyle/>
                    <a:p>
                      <a:pPr algn="ctr">
                        <a:lnSpc>
                          <a:spcPct val="100000"/>
                        </a:lnSpc>
                      </a:pPr>
                      <a:r>
                        <a:rPr sz="900" b="1">
                          <a:solidFill>
                            <a:srgbClr val="26408F"/>
                          </a:solidFill>
                          <a:latin typeface="Open Sans"/>
                        </a:rPr>
                        <a:t>20 000 €</a:t>
                      </a:r>
                    </a:p>
                  </a:txBody>
                  <a:tcPr marL="76200" marR="76200" marT="25400" marB="25400" anchor="ctr">
                    <a:solidFill>
                      <a:srgbClr val="FFFFFF"/>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c>
                  <a:txBody>
                    <a:bodyPr wrap="square"/>
                    <a:lstStyle/>
                    <a:p>
                      <a:pPr algn="ctr">
                        <a:lnSpc>
                          <a:spcPct val="100000"/>
                        </a:lnSpc>
                      </a:pPr>
                      <a:r>
                        <a:rPr sz="880" b="0">
                          <a:solidFill>
                            <a:srgbClr val="2B2B2B"/>
                          </a:solidFill>
                          <a:latin typeface="Open Sans"/>
                        </a:rPr>
                        <a:t>12 000 €</a:t>
                      </a:r>
                    </a:p>
                  </a:txBody>
                  <a:tcPr marL="76200" marR="76200" marT="25400" marB="25400" anchor="ctr">
                    <a:solidFill>
                      <a:srgbClr val="FFFFFF"/>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c>
                  <a:txBody>
                    <a:bodyPr wrap="square"/>
                    <a:lstStyle/>
                    <a:p>
                      <a:pPr algn="ctr">
                        <a:lnSpc>
                          <a:spcPct val="100000"/>
                        </a:lnSpc>
                      </a:pPr>
                      <a:r>
                        <a:rPr sz="900" b="1">
                          <a:solidFill>
                            <a:srgbClr val="EF3F34"/>
                          </a:solidFill>
                          <a:latin typeface="Open Sans"/>
                        </a:rPr>
                        <a:t>8 000 €</a:t>
                      </a:r>
                    </a:p>
                  </a:txBody>
                  <a:tcPr marL="76200" marR="76200" marT="25400" marB="25400" anchor="ctr">
                    <a:solidFill>
                      <a:srgbClr val="FDE8E6"/>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r>
              <a:tr h="247650">
                <a:tc>
                  <a:txBody>
                    <a:bodyPr wrap="square"/>
                    <a:lstStyle/>
                    <a:p>
                      <a:pPr algn="ctr">
                        <a:lnSpc>
                          <a:spcPct val="100000"/>
                        </a:lnSpc>
                      </a:pPr>
                      <a:r>
                        <a:rPr sz="900" b="1">
                          <a:solidFill>
                            <a:srgbClr val="26408F"/>
                          </a:solidFill>
                          <a:latin typeface="Open Sans"/>
                        </a:rPr>
                        <a:t>50 000 €</a:t>
                      </a:r>
                    </a:p>
                  </a:txBody>
                  <a:tcPr marL="76200" marR="76200" marT="25400" marB="25400" anchor="ctr">
                    <a:solidFill>
                      <a:srgbClr val="F6F7FB"/>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c>
                  <a:txBody>
                    <a:bodyPr wrap="square"/>
                    <a:lstStyle/>
                    <a:p>
                      <a:pPr algn="ctr">
                        <a:lnSpc>
                          <a:spcPct val="100000"/>
                        </a:lnSpc>
                      </a:pPr>
                      <a:r>
                        <a:rPr sz="880" b="0">
                          <a:solidFill>
                            <a:srgbClr val="2B2B2B"/>
                          </a:solidFill>
                          <a:latin typeface="Open Sans"/>
                        </a:rPr>
                        <a:t>30 000 €</a:t>
                      </a:r>
                    </a:p>
                  </a:txBody>
                  <a:tcPr marL="76200" marR="76200" marT="25400" marB="25400" anchor="ctr">
                    <a:solidFill>
                      <a:srgbClr val="F6F7FB"/>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c>
                  <a:txBody>
                    <a:bodyPr wrap="square"/>
                    <a:lstStyle/>
                    <a:p>
                      <a:pPr algn="ctr">
                        <a:lnSpc>
                          <a:spcPct val="100000"/>
                        </a:lnSpc>
                      </a:pPr>
                      <a:r>
                        <a:rPr sz="900" b="1">
                          <a:solidFill>
                            <a:srgbClr val="EF3F34"/>
                          </a:solidFill>
                          <a:latin typeface="Open Sans"/>
                        </a:rPr>
                        <a:t>20 000 €</a:t>
                      </a:r>
                    </a:p>
                  </a:txBody>
                  <a:tcPr marL="76200" marR="76200" marT="25400" marB="25400" anchor="ctr">
                    <a:solidFill>
                      <a:srgbClr val="FDE8E6"/>
                    </a:solidFill>
                    <a:lnL w="6350" cap="flat" cmpd="sng" algn="ctr">
                      <a:solidFill>
                        <a:srgbClr val="D9DCE6"/>
                      </a:solidFill>
                    </a:lnL>
                    <a:lnR w="6350" cap="flat" cmpd="sng" algn="ctr">
                      <a:solidFill>
                        <a:srgbClr val="D9DCE6"/>
                      </a:solidFill>
                    </a:lnR>
                    <a:lnT w="6350" cap="flat" cmpd="sng" algn="ctr">
                      <a:solidFill>
                        <a:srgbClr val="D9DCE6"/>
                      </a:solidFill>
                    </a:lnT>
                    <a:lnB w="6350" cap="flat" cmpd="sng" algn="ctr">
                      <a:solidFill>
                        <a:srgbClr val="D9DCE6"/>
                      </a:solidFill>
                    </a:lnB>
                  </a:tcPr>
                </a:tc>
              </a:tr>
            </a:tbl>
          </a:graphicData>
        </a:graphic>
      </p:graphicFrame>
      <p:pic>
        <p:nvPicPr>
          <p:cNvPr id="13" name="Illustration – analyse du document" descr="analyse_document.png"/>
          <p:cNvPicPr>
            <a:picLocks noChangeAspect="1"/>
          </p:cNvPicPr>
          <p:nvPr/>
        </p:nvPicPr>
        <p:blipFill>
          <a:blip r:embed="rId3"/>
          <a:stretch>
            <a:fillRect/>
          </a:stretch>
        </p:blipFill>
        <p:spPr>
          <a:xfrm>
            <a:off x="5359400" y="5359400"/>
            <a:ext cx="1743709" cy="1150848"/>
          </a:xfrm>
          <a:prstGeom prst="rect">
            <a:avLst/>
          </a:prstGeom>
        </p:spPr>
      </p:pic>
      <p:sp>
        <p:nvSpPr>
          <p:cNvPr id="14" name="Note fiscale"/>
          <p:cNvSpPr txBox="1"/>
          <p:nvPr/>
        </p:nvSpPr>
        <p:spPr>
          <a:xfrm>
            <a:off x="457200" y="6870700"/>
            <a:ext cx="6645909" cy="635000"/>
          </a:xfrm>
          <a:prstGeom prst="rect">
            <a:avLst/>
          </a:prstGeom>
          <a:noFill/>
        </p:spPr>
        <p:txBody>
          <a:bodyPr wrap="square" lIns="0" rIns="0" tIns="0" bIns="0" anchor="t">
            <a:noAutofit/>
          </a:bodyPr>
          <a:lstStyle/>
          <a:p>
            <a:pPr algn="l">
              <a:lnSpc>
                <a:spcPct val="120000"/>
              </a:lnSpc>
              <a:spcAft>
                <a:spcPts val="0"/>
              </a:spcAft>
            </a:pPr>
            <a:r>
              <a:rPr sz="690" b="0" i="1">
                <a:solidFill>
                  <a:srgbClr val="6B6B6B"/>
                </a:solidFill>
                <a:latin typeface="Open Sans"/>
              </a:rPr>
              <a:t>*À noter : le taux et le montant réellement imputable dépendent de la situation fiscale du mécène et des plafonds applicables. En règle générale, les dons ouvrant droit à réduction sont retenus dans la limite de 20 000 € ou de 0,5 % du chiffre d’affaires hors taxes si ce montant est plus élevé. Pour les versements dépassant 2 M€ sur l’année, le taux de réduction est généralement de 40 % sur la fraction excédentaire. La réduction peut être reportée dans les conditions prévues par la loi. Faites confirmer votre situation par votre conseil fiscal.</a:t>
            </a:r>
          </a:p>
        </p:txBody>
      </p:sp>
      <p:sp>
        <p:nvSpPr>
          <p:cNvPr id="15" name="Engagement – fond"/>
          <p:cNvSpPr/>
          <p:nvPr/>
        </p:nvSpPr>
        <p:spPr>
          <a:xfrm>
            <a:off x="457200" y="7480300"/>
            <a:ext cx="6645909" cy="304800"/>
          </a:xfrm>
          <a:prstGeom prst="roundRect">
            <a:avLst>
              <a:gd name="adj" fmla="val 50000"/>
            </a:avLst>
          </a:prstGeom>
          <a:solidFill>
            <a:srgbClr val="FFF5D2"/>
          </a:solidFill>
          <a:ln>
            <a:noFill/>
          </a:ln>
          <a:effectLst/>
        </p:spPr>
        <p:txBody>
          <a:bodyPr rtlCol="0" anchor="ctr"/>
          <a:lstStyle/>
          <a:p/>
        </p:txBody>
      </p:sp>
      <p:sp>
        <p:nvSpPr>
          <p:cNvPr id="16" name="Engagement – puce"/>
          <p:cNvSpPr/>
          <p:nvPr/>
        </p:nvSpPr>
        <p:spPr>
          <a:xfrm>
            <a:off x="609600" y="7594600"/>
            <a:ext cx="76200" cy="76200"/>
          </a:xfrm>
          <a:prstGeom prst="ellipse">
            <a:avLst/>
          </a:prstGeom>
          <a:solidFill>
            <a:srgbClr val="EF3F34"/>
          </a:solidFill>
          <a:ln>
            <a:noFill/>
          </a:ln>
          <a:effectLst/>
        </p:spPr>
        <p:txBody>
          <a:bodyPr rtlCol="0" anchor="ctr"/>
          <a:lstStyle/>
          <a:p>
            <a:pPr algn="ctr"/>
          </a:p>
        </p:txBody>
      </p:sp>
      <p:sp>
        <p:nvSpPr>
          <p:cNvPr id="17" name="Engagement – texte"/>
          <p:cNvSpPr txBox="1"/>
          <p:nvPr/>
        </p:nvSpPr>
        <p:spPr>
          <a:xfrm>
            <a:off x="787400" y="7480300"/>
            <a:ext cx="6188709" cy="304800"/>
          </a:xfrm>
          <a:prstGeom prst="rect">
            <a:avLst/>
          </a:prstGeom>
          <a:noFill/>
        </p:spPr>
        <p:txBody>
          <a:bodyPr wrap="square" lIns="0" rIns="0" tIns="0" bIns="0" anchor="ctr">
            <a:noAutofit/>
          </a:bodyPr>
          <a:lstStyle/>
          <a:p>
            <a:pPr algn="l">
              <a:lnSpc>
                <a:spcPct val="120000"/>
              </a:lnSpc>
              <a:spcAft>
                <a:spcPts val="0"/>
              </a:spcAft>
            </a:pPr>
            <a:r>
              <a:rPr sz="860" b="1" i="0">
                <a:solidFill>
                  <a:srgbClr val="26408F"/>
                </a:solidFill>
                <a:latin typeface="Open Sans"/>
              </a:rPr>
              <a:t>Votre engagement peut prendre la forme d’un don annuel ou pluriannuel au service de l’inclusion entrepreneuriale.</a:t>
            </a:r>
          </a:p>
        </p:txBody>
      </p:sp>
      <p:sp>
        <p:nvSpPr>
          <p:cNvPr id="18" name="Contact – fond bleu"/>
          <p:cNvSpPr/>
          <p:nvPr/>
        </p:nvSpPr>
        <p:spPr>
          <a:xfrm>
            <a:off x="457200" y="7886700"/>
            <a:ext cx="6645909" cy="2246629"/>
          </a:xfrm>
          <a:prstGeom prst="roundRect">
            <a:avLst>
              <a:gd name="adj" fmla="val 6783"/>
            </a:avLst>
          </a:prstGeom>
          <a:solidFill>
            <a:srgbClr val="26408F"/>
          </a:solidFill>
          <a:ln>
            <a:noFill/>
          </a:ln>
          <a:effectLst/>
        </p:spPr>
        <p:txBody>
          <a:bodyPr rtlCol="0" anchor="ctr"/>
          <a:lstStyle/>
          <a:p/>
        </p:txBody>
      </p:sp>
      <p:sp>
        <p:nvSpPr>
          <p:cNvPr id="19" name="Décor – cercle contact"/>
          <p:cNvSpPr/>
          <p:nvPr/>
        </p:nvSpPr>
        <p:spPr>
          <a:xfrm>
            <a:off x="5477509" y="8609330"/>
            <a:ext cx="1422400" cy="1422400"/>
          </a:xfrm>
          <a:prstGeom prst="ellipse">
            <a:avLst/>
          </a:prstGeom>
          <a:solidFill>
            <a:srgbClr val="3350A3"/>
          </a:solidFill>
          <a:ln>
            <a:noFill/>
          </a:ln>
          <a:effectLst/>
        </p:spPr>
        <p:txBody>
          <a:bodyPr rtlCol="0" anchor="ctr"/>
          <a:lstStyle/>
          <a:p>
            <a:pPr algn="ctr"/>
          </a:p>
        </p:txBody>
      </p:sp>
      <p:pic>
        <p:nvPicPr>
          <p:cNvPr id="20" name="Illustration – interlocutrice" descr="interlocutrice_crop.png"/>
          <p:cNvPicPr>
            <a:picLocks noChangeAspect="1"/>
          </p:cNvPicPr>
          <p:nvPr/>
        </p:nvPicPr>
        <p:blipFill>
          <a:blip r:embed="rId4"/>
          <a:stretch>
            <a:fillRect/>
          </a:stretch>
        </p:blipFill>
        <p:spPr>
          <a:xfrm>
            <a:off x="5426709" y="8710930"/>
            <a:ext cx="1498600" cy="1186891"/>
          </a:xfrm>
          <a:prstGeom prst="rect">
            <a:avLst/>
          </a:prstGeom>
        </p:spPr>
      </p:pic>
      <p:sp>
        <p:nvSpPr>
          <p:cNvPr id="21" name="Contact – titre"/>
          <p:cNvSpPr txBox="1"/>
          <p:nvPr/>
        </p:nvSpPr>
        <p:spPr>
          <a:xfrm>
            <a:off x="685800" y="8039100"/>
            <a:ext cx="4572000" cy="304800"/>
          </a:xfrm>
          <a:prstGeom prst="rect">
            <a:avLst/>
          </a:prstGeom>
          <a:noFill/>
        </p:spPr>
        <p:txBody>
          <a:bodyPr wrap="square" lIns="0" rIns="0" tIns="0" bIns="0" anchor="t">
            <a:noAutofit/>
          </a:bodyPr>
          <a:lstStyle/>
          <a:p>
            <a:pPr algn="l">
              <a:lnSpc>
                <a:spcPct val="100000"/>
              </a:lnSpc>
              <a:spcAft>
                <a:spcPts val="0"/>
              </a:spcAft>
            </a:pPr>
            <a:r>
              <a:rPr sz="1700" b="1" i="0">
                <a:solidFill>
                  <a:srgbClr val="FFFFFF"/>
                </a:solidFill>
                <a:latin typeface="Poppins"/>
              </a:rPr>
              <a:t>Engageons-nous ensemble</a:t>
            </a:r>
          </a:p>
        </p:txBody>
      </p:sp>
      <p:sp>
        <p:nvSpPr>
          <p:cNvPr id="22" name="Contact – texte"/>
          <p:cNvSpPr txBox="1"/>
          <p:nvPr/>
        </p:nvSpPr>
        <p:spPr>
          <a:xfrm>
            <a:off x="685800" y="8394700"/>
            <a:ext cx="5080000" cy="457200"/>
          </a:xfrm>
          <a:prstGeom prst="rect">
            <a:avLst/>
          </a:prstGeom>
          <a:noFill/>
        </p:spPr>
        <p:txBody>
          <a:bodyPr wrap="square" lIns="0" rIns="0" tIns="0" bIns="0" anchor="t">
            <a:noAutofit/>
          </a:bodyPr>
          <a:lstStyle/>
          <a:p>
            <a:pPr algn="l">
              <a:lnSpc>
                <a:spcPct val="135000"/>
              </a:lnSpc>
              <a:spcAft>
                <a:spcPts val="0"/>
              </a:spcAft>
            </a:pPr>
            <a:r>
              <a:rPr sz="880" b="0" i="0">
                <a:solidFill>
                  <a:srgbClr val="FFFFFF"/>
                </a:solidFill>
                <a:latin typeface="Open Sans"/>
              </a:rPr>
              <a:t>Pour toute information, n’hésitez pas à contacter </a:t>
            </a:r>
            <a:r>
              <a:rPr sz="880" b="1" i="0">
                <a:solidFill>
                  <a:srgbClr val="FFFFFF"/>
                </a:solidFill>
                <a:latin typeface="Open Sans"/>
              </a:rPr>
              <a:t>Claire BENISTI - Déléguée Générale</a:t>
            </a:r>
            <a:r>
              <a:rPr sz="880" b="0" i="0">
                <a:solidFill>
                  <a:srgbClr val="FFFFFF"/>
                </a:solidFill>
                <a:latin typeface="Open Sans"/>
              </a:rPr>
              <a:t> : </a:t>
            </a:r>
            <a:r>
              <a:rPr sz="880" b="1" i="0" u="sng">
                <a:solidFill>
                  <a:srgbClr val="FFCB1F"/>
                </a:solidFill>
                <a:latin typeface="Open Sans"/>
                <a:hlinkClick r:id="rId5"/>
              </a:rPr>
              <a:t>claire.benisti@entrepreneursdelacite.org</a:t>
            </a:r>
          </a:p>
        </p:txBody>
      </p:sp>
      <p:cxnSp>
        <p:nvCxnSpPr>
          <p:cNvPr id="23" name="Contact – séparateur"/>
          <p:cNvCxnSpPr/>
          <p:nvPr/>
        </p:nvCxnSpPr>
        <p:spPr>
          <a:xfrm>
            <a:off x="685800" y="8928100"/>
            <a:ext cx="4318000" cy="0"/>
          </a:xfrm>
          <a:prstGeom prst="line">
            <a:avLst/>
          </a:prstGeom>
          <a:ln w="7620">
            <a:solidFill>
              <a:srgbClr val="5A70B5"/>
            </a:solidFill>
          </a:ln>
        </p:spPr>
      </p:cxnSp>
      <p:sp>
        <p:nvSpPr>
          <p:cNvPr id="24" name="Picto adresse – pointe"/>
          <p:cNvSpPr/>
          <p:nvPr/>
        </p:nvSpPr>
        <p:spPr>
          <a:xfrm>
            <a:off x="713613" y="9127172"/>
            <a:ext cx="77724" cy="80962"/>
          </a:xfrm>
          <a:prstGeom prst="flowChartMerge">
            <a:avLst/>
          </a:prstGeom>
          <a:solidFill>
            <a:srgbClr val="FFCB1F"/>
          </a:solidFill>
          <a:ln>
            <a:noFill/>
          </a:ln>
        </p:spPr>
        <p:txBody>
          <a:bodyPr rtlCol="0" anchor="ctr"/>
          <a:lstStyle/>
          <a:p>
            <a:pPr algn="ctr"/>
          </a:p>
        </p:txBody>
      </p:sp>
      <p:sp>
        <p:nvSpPr>
          <p:cNvPr id="25" name="Picto adresse – tête"/>
          <p:cNvSpPr/>
          <p:nvPr/>
        </p:nvSpPr>
        <p:spPr>
          <a:xfrm>
            <a:off x="698500" y="9067800"/>
            <a:ext cx="107950" cy="107950"/>
          </a:xfrm>
          <a:prstGeom prst="ellipse">
            <a:avLst/>
          </a:prstGeom>
          <a:solidFill>
            <a:srgbClr val="FFCB1F"/>
          </a:solidFill>
          <a:ln>
            <a:noFill/>
          </a:ln>
          <a:effectLst/>
        </p:spPr>
        <p:txBody>
          <a:bodyPr rtlCol="0" anchor="ctr"/>
          <a:lstStyle/>
          <a:p>
            <a:pPr algn="ctr"/>
          </a:p>
        </p:txBody>
      </p:sp>
      <p:sp>
        <p:nvSpPr>
          <p:cNvPr id="26" name="Picto adresse – centre"/>
          <p:cNvSpPr/>
          <p:nvPr/>
        </p:nvSpPr>
        <p:spPr>
          <a:xfrm>
            <a:off x="730885" y="9100185"/>
            <a:ext cx="43180" cy="43180"/>
          </a:xfrm>
          <a:prstGeom prst="ellipse">
            <a:avLst/>
          </a:prstGeom>
          <a:solidFill>
            <a:srgbClr val="26408F"/>
          </a:solidFill>
          <a:ln>
            <a:noFill/>
          </a:ln>
          <a:effectLst/>
        </p:spPr>
        <p:txBody>
          <a:bodyPr rtlCol="0" anchor="ctr"/>
          <a:lstStyle/>
          <a:p>
            <a:pPr algn="ctr"/>
          </a:p>
        </p:txBody>
      </p:sp>
      <p:sp>
        <p:nvSpPr>
          <p:cNvPr id="27" name="Contact – adresse"/>
          <p:cNvSpPr txBox="1"/>
          <p:nvPr/>
        </p:nvSpPr>
        <p:spPr>
          <a:xfrm>
            <a:off x="901700" y="9029700"/>
            <a:ext cx="4191000" cy="355600"/>
          </a:xfrm>
          <a:prstGeom prst="rect">
            <a:avLst/>
          </a:prstGeom>
          <a:noFill/>
        </p:spPr>
        <p:txBody>
          <a:bodyPr wrap="square" lIns="0" rIns="0" tIns="0" bIns="0" anchor="t">
            <a:noAutofit/>
          </a:bodyPr>
          <a:lstStyle/>
          <a:p>
            <a:pPr algn="l">
              <a:lnSpc>
                <a:spcPct val="120000"/>
              </a:lnSpc>
              <a:spcAft>
                <a:spcPts val="0"/>
              </a:spcAft>
            </a:pPr>
            <a:r>
              <a:rPr sz="840" b="1" i="0">
                <a:solidFill>
                  <a:srgbClr val="FFFFFF"/>
                </a:solidFill>
                <a:latin typeface="Open Sans"/>
              </a:rPr>
              <a:t>Fondation Entrepreneurs de la Cité</a:t>
            </a:r>
          </a:p>
          <a:p>
            <a:pPr algn="l">
              <a:lnSpc>
                <a:spcPct val="120000"/>
              </a:lnSpc>
              <a:spcAft>
                <a:spcPts val="0"/>
              </a:spcAft>
            </a:pPr>
            <a:r>
              <a:rPr sz="840" b="0" i="0">
                <a:solidFill>
                  <a:srgbClr val="FFFFFF"/>
                </a:solidFill>
                <a:latin typeface="Open Sans"/>
              </a:rPr>
              <a:t>31 place Jules Grandclément — 69100 Villeurbanne</a:t>
            </a:r>
          </a:p>
        </p:txBody>
      </p:sp>
      <p:sp>
        <p:nvSpPr>
          <p:cNvPr id="28" name="Picto web – globe"/>
          <p:cNvSpPr/>
          <p:nvPr/>
        </p:nvSpPr>
        <p:spPr>
          <a:xfrm>
            <a:off x="685800" y="9436100"/>
            <a:ext cx="127000" cy="127000"/>
          </a:xfrm>
          <a:prstGeom prst="ellipse">
            <a:avLst/>
          </a:prstGeom>
          <a:noFill/>
          <a:ln w="11430">
            <a:solidFill>
              <a:srgbClr val="FFCB1F"/>
            </a:solidFill>
          </a:ln>
        </p:spPr>
        <p:txBody>
          <a:bodyPr rtlCol="0" anchor="ctr"/>
          <a:lstStyle/>
          <a:p>
            <a:pPr algn="ctr"/>
          </a:p>
        </p:txBody>
      </p:sp>
      <p:sp>
        <p:nvSpPr>
          <p:cNvPr id="29" name="Picto web – méridien"/>
          <p:cNvSpPr/>
          <p:nvPr/>
        </p:nvSpPr>
        <p:spPr>
          <a:xfrm>
            <a:off x="723900" y="9436100"/>
            <a:ext cx="50800" cy="127000"/>
          </a:xfrm>
          <a:prstGeom prst="ellipse">
            <a:avLst/>
          </a:prstGeom>
          <a:noFill/>
          <a:ln w="11430">
            <a:solidFill>
              <a:srgbClr val="FFCB1F"/>
            </a:solidFill>
          </a:ln>
        </p:spPr>
        <p:txBody>
          <a:bodyPr rtlCol="0" anchor="ctr"/>
          <a:lstStyle/>
          <a:p>
            <a:pPr algn="ctr"/>
          </a:p>
        </p:txBody>
      </p:sp>
      <p:cxnSp>
        <p:nvCxnSpPr>
          <p:cNvPr id="30" name="Picto web – équateur"/>
          <p:cNvCxnSpPr/>
          <p:nvPr/>
        </p:nvCxnSpPr>
        <p:spPr>
          <a:xfrm>
            <a:off x="685800" y="9499600"/>
            <a:ext cx="127000" cy="0"/>
          </a:xfrm>
          <a:prstGeom prst="line">
            <a:avLst/>
          </a:prstGeom>
          <a:ln w="11430">
            <a:solidFill>
              <a:srgbClr val="FFCB1F"/>
            </a:solidFill>
          </a:ln>
        </p:spPr>
      </p:cxnSp>
      <p:sp>
        <p:nvSpPr>
          <p:cNvPr id="31" name="Contact – site web"/>
          <p:cNvSpPr txBox="1"/>
          <p:nvPr/>
        </p:nvSpPr>
        <p:spPr>
          <a:xfrm>
            <a:off x="901700" y="9423400"/>
            <a:ext cx="4191000" cy="165100"/>
          </a:xfrm>
          <a:prstGeom prst="rect">
            <a:avLst/>
          </a:prstGeom>
          <a:noFill/>
        </p:spPr>
        <p:txBody>
          <a:bodyPr wrap="square" lIns="0" rIns="0" tIns="0" bIns="0" anchor="t">
            <a:noAutofit/>
          </a:bodyPr>
          <a:lstStyle/>
          <a:p>
            <a:pPr algn="l">
              <a:lnSpc>
                <a:spcPct val="120000"/>
              </a:lnSpc>
              <a:spcAft>
                <a:spcPts val="0"/>
              </a:spcAft>
            </a:pPr>
            <a:r>
              <a:rPr sz="840" b="0" i="0" u="sng">
                <a:solidFill>
                  <a:srgbClr val="FFFFFF"/>
                </a:solidFill>
                <a:latin typeface="Open Sans"/>
                <a:hlinkClick r:id="rId6"/>
              </a:rPr>
              <a:t>www.entrepreneursdelacite.org</a:t>
            </a:r>
          </a:p>
        </p:txBody>
      </p:sp>
      <p:sp>
        <p:nvSpPr>
          <p:cNvPr id="32" name="Contact – accroche"/>
          <p:cNvSpPr txBox="1"/>
          <p:nvPr/>
        </p:nvSpPr>
        <p:spPr>
          <a:xfrm>
            <a:off x="685800" y="9677400"/>
            <a:ext cx="4445000" cy="355600"/>
          </a:xfrm>
          <a:prstGeom prst="rect">
            <a:avLst/>
          </a:prstGeom>
          <a:noFill/>
        </p:spPr>
        <p:txBody>
          <a:bodyPr wrap="square" lIns="0" rIns="0" tIns="0" bIns="0" anchor="t">
            <a:noAutofit/>
          </a:bodyPr>
          <a:lstStyle/>
          <a:p>
            <a:pPr algn="l">
              <a:lnSpc>
                <a:spcPct val="115000"/>
              </a:lnSpc>
              <a:spcAft>
                <a:spcPts val="0"/>
              </a:spcAft>
            </a:pPr>
            <a:r>
              <a:rPr sz="919" b="1" i="0">
                <a:solidFill>
                  <a:srgbClr val="FFCB1F"/>
                </a:solidFill>
                <a:latin typeface="Open Sans"/>
              </a:rPr>
              <a:t>Prenons contact pour construire un partenariat à la hauteur de vos engagements.</a:t>
            </a:r>
          </a:p>
        </p:txBody>
      </p:sp>
      <p:cxnSp>
        <p:nvCxnSpPr>
          <p:cNvPr id="33" name="Pied de page – filet"/>
          <p:cNvCxnSpPr/>
          <p:nvPr/>
        </p:nvCxnSpPr>
        <p:spPr>
          <a:xfrm>
            <a:off x="457200" y="10260330"/>
            <a:ext cx="6645909" cy="0"/>
          </a:xfrm>
          <a:prstGeom prst="line">
            <a:avLst/>
          </a:prstGeom>
          <a:ln w="9525">
            <a:solidFill>
              <a:srgbClr val="EF3F34"/>
            </a:solidFill>
          </a:ln>
        </p:spPr>
      </p:cxnSp>
      <p:sp>
        <p:nvSpPr>
          <p:cNvPr id="34" name="Pied de page"/>
          <p:cNvSpPr txBox="1"/>
          <p:nvPr/>
        </p:nvSpPr>
        <p:spPr>
          <a:xfrm>
            <a:off x="457200" y="10349230"/>
            <a:ext cx="6645909" cy="127000"/>
          </a:xfrm>
          <a:prstGeom prst="rect">
            <a:avLst/>
          </a:prstGeom>
          <a:noFill/>
        </p:spPr>
        <p:txBody>
          <a:bodyPr wrap="square" lIns="0" rIns="0" tIns="0" bIns="0" anchor="t">
            <a:noAutofit/>
          </a:bodyPr>
          <a:lstStyle/>
          <a:p>
            <a:pPr algn="ctr">
              <a:lnSpc>
                <a:spcPct val="120000"/>
              </a:lnSpc>
              <a:spcAft>
                <a:spcPts val="0"/>
              </a:spcAft>
            </a:pPr>
            <a:r>
              <a:rPr sz="680" b="1" i="0" spc="30">
                <a:solidFill>
                  <a:srgbClr val="EF3F34"/>
                </a:solidFill>
                <a:latin typeface="Open Sans"/>
              </a:rPr>
              <a:t>ENTREPRENEURS DE LA CITÉ</a:t>
            </a:r>
            <a:r>
              <a:rPr sz="680" b="0" i="0" spc="30">
                <a:solidFill>
                  <a:srgbClr val="6B6B6B"/>
                </a:solidFill>
                <a:latin typeface="Open Sans"/>
              </a:rPr>
              <a:t>  •  Prévenir, protéger, pérenniser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