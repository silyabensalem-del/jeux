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claire.benisti@entrepreneursdelacite.org" TargetMode="External"/><Relationship Id="rId4" Type="http://schemas.openxmlformats.org/officeDocument/2006/relationships/hyperlink" Target="https://www.entrepreneursdelacite.or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ndeau haut corail"/>
          <p:cNvSpPr/>
          <p:nvPr/>
        </p:nvSpPr>
        <p:spPr>
          <a:xfrm>
            <a:off x="0" y="0"/>
            <a:ext cx="7560309" cy="6350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" name="Logo EDLC" descr="logo_edlc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79400"/>
            <a:ext cx="1498600" cy="443372"/>
          </a:xfrm>
          <a:prstGeom prst="rect">
            <a:avLst/>
          </a:prstGeom>
        </p:spPr>
      </p:pic>
      <p:sp>
        <p:nvSpPr>
          <p:cNvPr id="4" name="Titre principal"/>
          <p:cNvSpPr txBox="1"/>
          <p:nvPr/>
        </p:nvSpPr>
        <p:spPr>
          <a:xfrm>
            <a:off x="431800" y="889000"/>
            <a:ext cx="6696709" cy="736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26408F"/>
                </a:solidFill>
                <a:latin typeface="Poppins"/>
              </a:rPr>
              <a:t>L’assurance sociale et solidaire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26408F"/>
                </a:solidFill>
                <a:latin typeface="Poppins"/>
              </a:rPr>
              <a:t>au service de l’entrepreneuriat</a:t>
            </a:r>
          </a:p>
        </p:txBody>
      </p:sp>
      <p:sp>
        <p:nvSpPr>
          <p:cNvPr id="5" name="Titre – trait corail"/>
          <p:cNvSpPr/>
          <p:nvPr/>
        </p:nvSpPr>
        <p:spPr>
          <a:xfrm>
            <a:off x="3551554" y="1676400"/>
            <a:ext cx="457200" cy="3175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Sous-titre"/>
          <p:cNvSpPr txBox="1"/>
          <p:nvPr/>
        </p:nvSpPr>
        <p:spPr>
          <a:xfrm>
            <a:off x="431800" y="1778000"/>
            <a:ext cx="6696709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26408F"/>
                </a:solidFill>
                <a:latin typeface="Poppins"/>
              </a:rPr>
              <a:t>Devenez mécène d’une économie où chacun peut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26408F"/>
                </a:solidFill>
                <a:latin typeface="Poppins"/>
              </a:rPr>
              <a:t>entreprendre et faire durer son activité !</a:t>
            </a:r>
          </a:p>
        </p:txBody>
      </p:sp>
      <p:sp>
        <p:nvSpPr>
          <p:cNvPr id="7" name="Introduction – filet"/>
          <p:cNvSpPr/>
          <p:nvPr/>
        </p:nvSpPr>
        <p:spPr>
          <a:xfrm>
            <a:off x="431800" y="2362200"/>
            <a:ext cx="31750" cy="965200"/>
          </a:xfrm>
          <a:prstGeom prst="rect">
            <a:avLst/>
          </a:prstGeom>
          <a:solidFill>
            <a:srgbClr val="26408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Introduction"/>
          <p:cNvSpPr txBox="1"/>
          <p:nvPr/>
        </p:nvSpPr>
        <p:spPr>
          <a:xfrm>
            <a:off x="584200" y="2336800"/>
            <a:ext cx="6544309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880" b="0" i="0">
                <a:solidFill>
                  <a:srgbClr val="2B2B2B"/>
                </a:solidFill>
                <a:latin typeface="Open Sans"/>
              </a:rPr>
              <a:t>Les créateurs d’entreprise en situation de précarité ou de handicap peuvent rencontrer des </a:t>
            </a:r>
            <a:r>
              <a:rPr sz="880" b="1" i="0">
                <a:solidFill>
                  <a:srgbClr val="2B2B2B"/>
                </a:solidFill>
                <a:latin typeface="Open Sans"/>
              </a:rPr>
              <a:t>difficultés à accéder aux assurances professionnelles classiques</a:t>
            </a:r>
            <a:r>
              <a:rPr sz="880" b="0" i="0">
                <a:solidFill>
                  <a:srgbClr val="2B2B2B"/>
                </a:solidFill>
                <a:latin typeface="Open Sans"/>
              </a:rPr>
              <a:t>. Sans protection adaptée, un accident, un litige ou un arrêt de travail peut compromettre l’activité qu’ils ont créée.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880" b="0" i="0">
                <a:solidFill>
                  <a:srgbClr val="2B2B2B"/>
                </a:solidFill>
                <a:latin typeface="Open Sans"/>
              </a:rPr>
              <a:t>Depuis 2007, la Fondation Entrepreneurs de la Cité (EDLC) ouvre </a:t>
            </a:r>
            <a:r>
              <a:rPr sz="880" b="1" i="0">
                <a:solidFill>
                  <a:srgbClr val="2B2B2B"/>
                </a:solidFill>
                <a:latin typeface="Open Sans"/>
              </a:rPr>
              <a:t>l’accès à une assurance adaptée aux créateurs d’entreprise en situation de vulnérabilité</a:t>
            </a:r>
            <a:r>
              <a:rPr sz="880" b="0" i="0">
                <a:solidFill>
                  <a:srgbClr val="2B2B2B"/>
                </a:solidFill>
                <a:latin typeface="Open Sans"/>
              </a:rPr>
              <a:t>. Nous agissons là où les offres classiques ne répondent pas aux besoins : au croisement de l’inclusion, de l’emploi et de la pérennité économique.</a:t>
            </a:r>
          </a:p>
        </p:txBody>
      </p:sp>
      <p:sp>
        <p:nvSpPr>
          <p:cNvPr id="9" name="Chiffre 3 362 – fond"/>
          <p:cNvSpPr/>
          <p:nvPr/>
        </p:nvSpPr>
        <p:spPr>
          <a:xfrm>
            <a:off x="431800" y="3479800"/>
            <a:ext cx="2164503" cy="635000"/>
          </a:xfrm>
          <a:prstGeom prst="roundRect">
            <a:avLst>
              <a:gd name="adj" fmla="val 20000"/>
            </a:avLst>
          </a:prstGeom>
          <a:solidFill>
            <a:srgbClr val="E6EA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Chiffre 3 362"/>
          <p:cNvSpPr txBox="1"/>
          <p:nvPr/>
        </p:nvSpPr>
        <p:spPr>
          <a:xfrm>
            <a:off x="431800" y="3543300"/>
            <a:ext cx="2164503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6408F"/>
                </a:solidFill>
                <a:latin typeface="Poppins"/>
              </a:rPr>
              <a:t>3 362</a:t>
            </a:r>
          </a:p>
        </p:txBody>
      </p:sp>
      <p:sp>
        <p:nvSpPr>
          <p:cNvPr id="11" name="Chiffre 3 362 – légende"/>
          <p:cNvSpPr txBox="1"/>
          <p:nvPr/>
        </p:nvSpPr>
        <p:spPr>
          <a:xfrm>
            <a:off x="508000" y="3822700"/>
            <a:ext cx="201210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entrepreneurs assurés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en 2025</a:t>
            </a:r>
          </a:p>
        </p:txBody>
      </p:sp>
      <p:sp>
        <p:nvSpPr>
          <p:cNvPr id="12" name="Chiffre 2 544 – fond"/>
          <p:cNvSpPr/>
          <p:nvPr/>
        </p:nvSpPr>
        <p:spPr>
          <a:xfrm>
            <a:off x="2697903" y="3479800"/>
            <a:ext cx="2164503" cy="635000"/>
          </a:xfrm>
          <a:prstGeom prst="roundRect">
            <a:avLst>
              <a:gd name="adj" fmla="val 20000"/>
            </a:avLst>
          </a:prstGeom>
          <a:solidFill>
            <a:srgbClr val="FDE8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Chiffre 2 544"/>
          <p:cNvSpPr txBox="1"/>
          <p:nvPr/>
        </p:nvSpPr>
        <p:spPr>
          <a:xfrm>
            <a:off x="2697903" y="3543300"/>
            <a:ext cx="2164503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F3F34"/>
                </a:solidFill>
                <a:latin typeface="Poppins"/>
              </a:rPr>
              <a:t>2 544</a:t>
            </a:r>
          </a:p>
        </p:txBody>
      </p:sp>
      <p:sp>
        <p:nvSpPr>
          <p:cNvPr id="14" name="Chiffre 2 544 – légende"/>
          <p:cNvSpPr txBox="1"/>
          <p:nvPr/>
        </p:nvSpPr>
        <p:spPr>
          <a:xfrm>
            <a:off x="2774103" y="3822700"/>
            <a:ext cx="201210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personnes formées aux risques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en 2025</a:t>
            </a:r>
          </a:p>
        </p:txBody>
      </p:sp>
      <p:sp>
        <p:nvSpPr>
          <p:cNvPr id="15" name="Chiffre 89 % – fond"/>
          <p:cNvSpPr/>
          <p:nvPr/>
        </p:nvSpPr>
        <p:spPr>
          <a:xfrm>
            <a:off x="4964006" y="3479800"/>
            <a:ext cx="2164503" cy="635000"/>
          </a:xfrm>
          <a:prstGeom prst="roundRect">
            <a:avLst>
              <a:gd name="adj" fmla="val 20000"/>
            </a:avLst>
          </a:prstGeom>
          <a:solidFill>
            <a:srgbClr val="FEEFD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Chiffre 89 %"/>
          <p:cNvSpPr txBox="1"/>
          <p:nvPr/>
        </p:nvSpPr>
        <p:spPr>
          <a:xfrm>
            <a:off x="4964006" y="3543300"/>
            <a:ext cx="2164503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89410"/>
                </a:solidFill>
                <a:latin typeface="Poppins"/>
              </a:rPr>
              <a:t>89 %</a:t>
            </a:r>
          </a:p>
        </p:txBody>
      </p:sp>
      <p:sp>
        <p:nvSpPr>
          <p:cNvPr id="17" name="Chiffre 89 % – légende"/>
          <p:cNvSpPr txBox="1"/>
          <p:nvPr/>
        </p:nvSpPr>
        <p:spPr>
          <a:xfrm>
            <a:off x="5040206" y="3822700"/>
            <a:ext cx="201210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de survie après sinistre</a:t>
            </a:r>
          </a:p>
        </p:txBody>
      </p:sp>
      <p:sp>
        <p:nvSpPr>
          <p:cNvPr id="18" name="Chiffre 11 741 – fond"/>
          <p:cNvSpPr/>
          <p:nvPr/>
        </p:nvSpPr>
        <p:spPr>
          <a:xfrm>
            <a:off x="431800" y="4216400"/>
            <a:ext cx="2164503" cy="635000"/>
          </a:xfrm>
          <a:prstGeom prst="roundRect">
            <a:avLst>
              <a:gd name="adj" fmla="val 20000"/>
            </a:avLst>
          </a:prstGeom>
          <a:solidFill>
            <a:srgbClr val="E6EA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Chiffre 11 741"/>
          <p:cNvSpPr txBox="1"/>
          <p:nvPr/>
        </p:nvSpPr>
        <p:spPr>
          <a:xfrm>
            <a:off x="431800" y="4279900"/>
            <a:ext cx="2164503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6408F"/>
                </a:solidFill>
                <a:latin typeface="Poppins"/>
              </a:rPr>
              <a:t>11 741</a:t>
            </a:r>
          </a:p>
        </p:txBody>
      </p:sp>
      <p:sp>
        <p:nvSpPr>
          <p:cNvPr id="20" name="Chiffre 11 741 – légende"/>
          <p:cNvSpPr txBox="1"/>
          <p:nvPr/>
        </p:nvSpPr>
        <p:spPr>
          <a:xfrm>
            <a:off x="508000" y="4559300"/>
            <a:ext cx="201210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entrepreneurs assurés depuis 2007</a:t>
            </a:r>
          </a:p>
        </p:txBody>
      </p:sp>
      <p:sp>
        <p:nvSpPr>
          <p:cNvPr id="21" name="Chiffre 38 816 – fond"/>
          <p:cNvSpPr/>
          <p:nvPr/>
        </p:nvSpPr>
        <p:spPr>
          <a:xfrm>
            <a:off x="2697903" y="4216400"/>
            <a:ext cx="2164503" cy="635000"/>
          </a:xfrm>
          <a:prstGeom prst="roundRect">
            <a:avLst>
              <a:gd name="adj" fmla="val 20000"/>
            </a:avLst>
          </a:prstGeom>
          <a:solidFill>
            <a:srgbClr val="FDE8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Chiffre 38 816"/>
          <p:cNvSpPr txBox="1"/>
          <p:nvPr/>
        </p:nvSpPr>
        <p:spPr>
          <a:xfrm>
            <a:off x="2697903" y="4279900"/>
            <a:ext cx="2164503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F3F34"/>
                </a:solidFill>
                <a:latin typeface="Poppins"/>
              </a:rPr>
              <a:t>38 816</a:t>
            </a:r>
          </a:p>
        </p:txBody>
      </p:sp>
      <p:sp>
        <p:nvSpPr>
          <p:cNvPr id="23" name="Chiffre 38 816 – légende"/>
          <p:cNvSpPr txBox="1"/>
          <p:nvPr/>
        </p:nvSpPr>
        <p:spPr>
          <a:xfrm>
            <a:off x="2774103" y="4559300"/>
            <a:ext cx="201210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personnes formées aux risques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depuis 2007</a:t>
            </a:r>
          </a:p>
        </p:txBody>
      </p:sp>
      <p:sp>
        <p:nvSpPr>
          <p:cNvPr id="24" name="Chiffre 350+ – fond"/>
          <p:cNvSpPr/>
          <p:nvPr/>
        </p:nvSpPr>
        <p:spPr>
          <a:xfrm>
            <a:off x="4964006" y="4216400"/>
            <a:ext cx="2164503" cy="635000"/>
          </a:xfrm>
          <a:prstGeom prst="roundRect">
            <a:avLst>
              <a:gd name="adj" fmla="val 20000"/>
            </a:avLst>
          </a:prstGeom>
          <a:solidFill>
            <a:srgbClr val="FEEFD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Chiffre 350+"/>
          <p:cNvSpPr txBox="1"/>
          <p:nvPr/>
        </p:nvSpPr>
        <p:spPr>
          <a:xfrm>
            <a:off x="4964006" y="4279900"/>
            <a:ext cx="2164503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89410"/>
                </a:solidFill>
                <a:latin typeface="Poppins"/>
              </a:rPr>
              <a:t>350+</a:t>
            </a:r>
          </a:p>
        </p:txBody>
      </p:sp>
      <p:sp>
        <p:nvSpPr>
          <p:cNvPr id="26" name="Chiffre 350+ – légende"/>
          <p:cNvSpPr txBox="1"/>
          <p:nvPr/>
        </p:nvSpPr>
        <p:spPr>
          <a:xfrm>
            <a:off x="5040206" y="4559300"/>
            <a:ext cx="201210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activités couvertes</a:t>
            </a:r>
          </a:p>
        </p:txBody>
      </p:sp>
      <p:sp>
        <p:nvSpPr>
          <p:cNvPr id="27" name="Un modèle qui associe prévention, protection et mobilisation"/>
          <p:cNvSpPr txBox="1"/>
          <p:nvPr/>
        </p:nvSpPr>
        <p:spPr>
          <a:xfrm>
            <a:off x="431800" y="4953000"/>
            <a:ext cx="6696709" cy="257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6408F"/>
                </a:solidFill>
                <a:latin typeface="Poppins"/>
              </a:rPr>
              <a:t>Un modèle qui associe prévention, protection et mobilisation</a:t>
            </a:r>
          </a:p>
        </p:txBody>
      </p:sp>
      <p:sp>
        <p:nvSpPr>
          <p:cNvPr id="28" name="Un modèle qui associe prévention, protection et mobilisation – trait"/>
          <p:cNvSpPr/>
          <p:nvPr/>
        </p:nvSpPr>
        <p:spPr>
          <a:xfrm>
            <a:off x="431800" y="5223510"/>
            <a:ext cx="355600" cy="3175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Carte PRÉVENIR – fond"/>
          <p:cNvSpPr/>
          <p:nvPr/>
        </p:nvSpPr>
        <p:spPr>
          <a:xfrm>
            <a:off x="431800" y="5334000"/>
            <a:ext cx="2164503" cy="1701800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 w="1143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Picto prévenir – fond"/>
          <p:cNvSpPr/>
          <p:nvPr/>
        </p:nvSpPr>
        <p:spPr>
          <a:xfrm>
            <a:off x="584200" y="5486400"/>
            <a:ext cx="304800" cy="304800"/>
          </a:xfrm>
          <a:prstGeom prst="ellipse">
            <a:avLst/>
          </a:prstGeom>
          <a:solidFill>
            <a:srgbClr val="2640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icto prévenir – point"/>
          <p:cNvSpPr/>
          <p:nvPr/>
        </p:nvSpPr>
        <p:spPr>
          <a:xfrm>
            <a:off x="718312" y="5557520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icto prévenir – barre"/>
          <p:cNvSpPr/>
          <p:nvPr/>
        </p:nvSpPr>
        <p:spPr>
          <a:xfrm>
            <a:off x="720344" y="5613400"/>
            <a:ext cx="32512" cy="106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Carte PRÉVENIR – titre"/>
          <p:cNvSpPr txBox="1"/>
          <p:nvPr/>
        </p:nvSpPr>
        <p:spPr>
          <a:xfrm>
            <a:off x="977900" y="5486400"/>
            <a:ext cx="1529503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80">
                <a:solidFill>
                  <a:srgbClr val="26408F"/>
                </a:solidFill>
                <a:latin typeface="Poppins"/>
              </a:rPr>
              <a:t>PRÉVENIR</a:t>
            </a:r>
          </a:p>
        </p:txBody>
      </p:sp>
      <p:sp>
        <p:nvSpPr>
          <p:cNvPr id="34" name="Carte PRÉVENIR – texte"/>
          <p:cNvSpPr txBox="1"/>
          <p:nvPr/>
        </p:nvSpPr>
        <p:spPr>
          <a:xfrm>
            <a:off x="584200" y="5892800"/>
            <a:ext cx="1885103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2B2B2B"/>
                </a:solidFill>
                <a:latin typeface="Open Sans"/>
              </a:rPr>
              <a:t>Des webinaires hebdomadaires, des formations et des interventions auprès des réseaux d’accompagnement pour aider les entrepreneurs à identifier les risques et à choisir les protections adaptées.</a:t>
            </a:r>
          </a:p>
        </p:txBody>
      </p:sp>
      <p:sp>
        <p:nvSpPr>
          <p:cNvPr id="35" name="Carte PROTÉGER – fond"/>
          <p:cNvSpPr/>
          <p:nvPr/>
        </p:nvSpPr>
        <p:spPr>
          <a:xfrm>
            <a:off x="2697903" y="5334000"/>
            <a:ext cx="2164503" cy="1701800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 w="1143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6" name="Picto protéger – fond"/>
          <p:cNvSpPr/>
          <p:nvPr/>
        </p:nvSpPr>
        <p:spPr>
          <a:xfrm>
            <a:off x="2850303" y="5486400"/>
            <a:ext cx="304800" cy="304800"/>
          </a:xfrm>
          <a:prstGeom prst="ellipse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icto protéger – bouclier"/>
          <p:cNvSpPr/>
          <p:nvPr/>
        </p:nvSpPr>
        <p:spPr>
          <a:xfrm>
            <a:off x="2931583" y="5552440"/>
            <a:ext cx="142240" cy="172720"/>
          </a:xfrm>
          <a:prstGeom prst="flowChartOffpageConnector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Picto protéger – coche (court)"/>
          <p:cNvSpPr/>
          <p:nvPr/>
        </p:nvSpPr>
        <p:spPr>
          <a:xfrm rot="2700000">
            <a:off x="2953935" y="5622544"/>
            <a:ext cx="50800" cy="22352"/>
          </a:xfrm>
          <a:prstGeom prst="roundRect">
            <a:avLst/>
          </a:prstGeom>
          <a:solidFill>
            <a:srgbClr val="EF3F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Picto protéger – coche (long)"/>
          <p:cNvSpPr/>
          <p:nvPr/>
        </p:nvSpPr>
        <p:spPr>
          <a:xfrm rot="18600000">
            <a:off x="2978319" y="5606288"/>
            <a:ext cx="86360" cy="22352"/>
          </a:xfrm>
          <a:prstGeom prst="roundRect">
            <a:avLst/>
          </a:prstGeom>
          <a:solidFill>
            <a:srgbClr val="EF3F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Carte PROTÉGER – titre"/>
          <p:cNvSpPr txBox="1"/>
          <p:nvPr/>
        </p:nvSpPr>
        <p:spPr>
          <a:xfrm>
            <a:off x="3244003" y="5486400"/>
            <a:ext cx="1529503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80">
                <a:solidFill>
                  <a:srgbClr val="26408F"/>
                </a:solidFill>
                <a:latin typeface="Poppins"/>
              </a:rPr>
              <a:t>PROTÉGER</a:t>
            </a:r>
          </a:p>
        </p:txBody>
      </p:sp>
      <p:sp>
        <p:nvSpPr>
          <p:cNvPr id="41" name="Carte PROTÉGER – texte"/>
          <p:cNvSpPr txBox="1"/>
          <p:nvPr/>
        </p:nvSpPr>
        <p:spPr>
          <a:xfrm>
            <a:off x="2850303" y="5892800"/>
            <a:ext cx="1885103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2B2B2B"/>
                </a:solidFill>
                <a:latin typeface="Open Sans"/>
              </a:rPr>
              <a:t>Des solutions assurantielles à tarifs solidaires, couvrant notamment la multirisque professionnelle, la responsabilité civile professionnelle, la santé, la prévoyance et la responsabilité civile décennale. L’assistance juridique est offerte.</a:t>
            </a:r>
          </a:p>
        </p:txBody>
      </p:sp>
      <p:sp>
        <p:nvSpPr>
          <p:cNvPr id="42" name="Carte MOBILISER – fond"/>
          <p:cNvSpPr/>
          <p:nvPr/>
        </p:nvSpPr>
        <p:spPr>
          <a:xfrm>
            <a:off x="4964006" y="5334000"/>
            <a:ext cx="2164503" cy="1701800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 w="1143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Picto mobiliser – fond"/>
          <p:cNvSpPr/>
          <p:nvPr/>
        </p:nvSpPr>
        <p:spPr>
          <a:xfrm>
            <a:off x="5116406" y="5486400"/>
            <a:ext cx="304800" cy="304800"/>
          </a:xfrm>
          <a:prstGeom prst="ellipse">
            <a:avLst/>
          </a:prstGeom>
          <a:solidFill>
            <a:srgbClr val="F894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icto mobiliser – pavillon"/>
          <p:cNvSpPr/>
          <p:nvPr/>
        </p:nvSpPr>
        <p:spPr>
          <a:xfrm rot="16200000">
            <a:off x="5207846" y="5577840"/>
            <a:ext cx="121920" cy="101600"/>
          </a:xfrm>
          <a:prstGeom prst="trapezoi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Picto mobiliser – arrière"/>
          <p:cNvSpPr/>
          <p:nvPr/>
        </p:nvSpPr>
        <p:spPr>
          <a:xfrm>
            <a:off x="5192606" y="5603240"/>
            <a:ext cx="4064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Picto mobiliser – poignée"/>
          <p:cNvSpPr/>
          <p:nvPr/>
        </p:nvSpPr>
        <p:spPr>
          <a:xfrm>
            <a:off x="5207846" y="5648960"/>
            <a:ext cx="24384" cy="60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Picto mobiliser – onde 1"/>
          <p:cNvSpPr/>
          <p:nvPr/>
        </p:nvSpPr>
        <p:spPr>
          <a:xfrm rot="19800000">
            <a:off x="5334846" y="5562600"/>
            <a:ext cx="40640" cy="1422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Picto mobiliser – onde 2"/>
          <p:cNvSpPr/>
          <p:nvPr/>
        </p:nvSpPr>
        <p:spPr>
          <a:xfrm>
            <a:off x="5334846" y="5621528"/>
            <a:ext cx="40640" cy="1422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Picto mobiliser – onde 3"/>
          <p:cNvSpPr/>
          <p:nvPr/>
        </p:nvSpPr>
        <p:spPr>
          <a:xfrm rot="1800000">
            <a:off x="5334846" y="5680456"/>
            <a:ext cx="40640" cy="1422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Carte MOBILISER – titre"/>
          <p:cNvSpPr txBox="1"/>
          <p:nvPr/>
        </p:nvSpPr>
        <p:spPr>
          <a:xfrm>
            <a:off x="5510106" y="5486400"/>
            <a:ext cx="1529503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80">
                <a:solidFill>
                  <a:srgbClr val="26408F"/>
                </a:solidFill>
                <a:latin typeface="Poppins"/>
              </a:rPr>
              <a:t>MOBILISER</a:t>
            </a:r>
          </a:p>
        </p:txBody>
      </p:sp>
      <p:sp>
        <p:nvSpPr>
          <p:cNvPr id="51" name="Carte MOBILISER – texte"/>
          <p:cNvSpPr txBox="1"/>
          <p:nvPr/>
        </p:nvSpPr>
        <p:spPr>
          <a:xfrm>
            <a:off x="5116406" y="5892800"/>
            <a:ext cx="1885103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2B2B2B"/>
                </a:solidFill>
                <a:latin typeface="Open Sans"/>
              </a:rPr>
              <a:t>Démonstration par la preuve de l'utilité sociale de l'assurance inclusive et son impact sur la société et la vitalité économique des territoires.</a:t>
            </a:r>
          </a:p>
        </p:txBody>
      </p:sp>
      <p:sp>
        <p:nvSpPr>
          <p:cNvPr id="52" name="Écosystème"/>
          <p:cNvSpPr txBox="1"/>
          <p:nvPr/>
        </p:nvSpPr>
        <p:spPr>
          <a:xfrm>
            <a:off x="431800" y="7162800"/>
            <a:ext cx="6696709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2B2B2B"/>
                </a:solidFill>
                <a:latin typeface="Open Sans"/>
              </a:rPr>
              <a:t>EDLC s’appuie sur un écosystème engagé : </a:t>
            </a:r>
            <a:r>
              <a:rPr sz="880" b="1" i="0">
                <a:solidFill>
                  <a:srgbClr val="2B2B2B"/>
                </a:solidFill>
                <a:latin typeface="Open Sans"/>
              </a:rPr>
              <a:t>France Assureurs</a:t>
            </a:r>
            <a:r>
              <a:rPr sz="880" b="0" i="0">
                <a:solidFill>
                  <a:srgbClr val="2B2B2B"/>
                </a:solidFill>
                <a:latin typeface="Open Sans"/>
              </a:rPr>
              <a:t>, </a:t>
            </a:r>
            <a:r>
              <a:rPr sz="880" b="1" i="0">
                <a:solidFill>
                  <a:srgbClr val="2B2B2B"/>
                </a:solidFill>
                <a:latin typeface="Open Sans"/>
              </a:rPr>
              <a:t>Bpifrance</a:t>
            </a:r>
            <a:r>
              <a:rPr sz="880" b="0" i="0">
                <a:solidFill>
                  <a:srgbClr val="2B2B2B"/>
                </a:solidFill>
                <a:latin typeface="Open Sans"/>
              </a:rPr>
              <a:t>, </a:t>
            </a:r>
            <a:r>
              <a:rPr sz="880" b="1" i="0">
                <a:solidFill>
                  <a:srgbClr val="2B2B2B"/>
                </a:solidFill>
                <a:latin typeface="Open Sans"/>
              </a:rPr>
              <a:t>l’Agefiph</a:t>
            </a:r>
            <a:r>
              <a:rPr sz="880" b="0" i="0">
                <a:solidFill>
                  <a:srgbClr val="2B2B2B"/>
                </a:solidFill>
                <a:latin typeface="Open Sans"/>
              </a:rPr>
              <a:t>, des réseaux d’accompagnement comme </a:t>
            </a:r>
            <a:r>
              <a:rPr sz="880" b="1" i="0">
                <a:solidFill>
                  <a:srgbClr val="2B2B2B"/>
                </a:solidFill>
                <a:latin typeface="Open Sans"/>
              </a:rPr>
              <a:t>l’Adie</a:t>
            </a:r>
            <a:r>
              <a:rPr sz="880" b="0" i="0">
                <a:solidFill>
                  <a:srgbClr val="2B2B2B"/>
                </a:solidFill>
                <a:latin typeface="Open Sans"/>
              </a:rPr>
              <a:t>, </a:t>
            </a:r>
            <a:r>
              <a:rPr sz="880" b="1" i="0">
                <a:solidFill>
                  <a:srgbClr val="2B2B2B"/>
                </a:solidFill>
                <a:latin typeface="Open Sans"/>
              </a:rPr>
              <a:t>France Active</a:t>
            </a:r>
            <a:r>
              <a:rPr sz="880" b="0" i="0">
                <a:solidFill>
                  <a:srgbClr val="2B2B2B"/>
                </a:solidFill>
                <a:latin typeface="Open Sans"/>
              </a:rPr>
              <a:t>, </a:t>
            </a:r>
            <a:r>
              <a:rPr sz="880" b="1" i="0">
                <a:solidFill>
                  <a:srgbClr val="2B2B2B"/>
                </a:solidFill>
                <a:latin typeface="Open Sans"/>
              </a:rPr>
              <a:t>BGE</a:t>
            </a:r>
            <a:r>
              <a:rPr sz="880" b="0" i="0">
                <a:solidFill>
                  <a:srgbClr val="2B2B2B"/>
                </a:solidFill>
                <a:latin typeface="Open Sans"/>
              </a:rPr>
              <a:t> ou </a:t>
            </a:r>
            <a:r>
              <a:rPr sz="880" b="1" i="0">
                <a:solidFill>
                  <a:srgbClr val="2B2B2B"/>
                </a:solidFill>
                <a:latin typeface="Open Sans"/>
              </a:rPr>
              <a:t>France Travail</a:t>
            </a:r>
            <a:r>
              <a:rPr sz="880" b="0" i="0">
                <a:solidFill>
                  <a:srgbClr val="2B2B2B"/>
                </a:solidFill>
                <a:latin typeface="Open Sans"/>
              </a:rPr>
              <a:t>, ainsi que des assureurs partenaires. Cette coopération réunit les compétences nécessaires autour d’un objectif commun : </a:t>
            </a:r>
            <a:r>
              <a:rPr sz="880" b="1" i="0">
                <a:solidFill>
                  <a:srgbClr val="2B2B2B"/>
                </a:solidFill>
                <a:latin typeface="Open Sans"/>
              </a:rPr>
              <a:t>pérenniser les micro-entreprises nouvellement créées.</a:t>
            </a:r>
          </a:p>
        </p:txBody>
      </p:sp>
      <p:sp>
        <p:nvSpPr>
          <p:cNvPr id="53" name="Un impact social documenté"/>
          <p:cNvSpPr txBox="1"/>
          <p:nvPr/>
        </p:nvSpPr>
        <p:spPr>
          <a:xfrm>
            <a:off x="431800" y="7721600"/>
            <a:ext cx="6696709" cy="257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6408F"/>
                </a:solidFill>
                <a:latin typeface="Poppins"/>
              </a:rPr>
              <a:t>Un impact social documenté</a:t>
            </a:r>
          </a:p>
        </p:txBody>
      </p:sp>
      <p:sp>
        <p:nvSpPr>
          <p:cNvPr id="54" name="Un impact social documenté – trait"/>
          <p:cNvSpPr/>
          <p:nvPr/>
        </p:nvSpPr>
        <p:spPr>
          <a:xfrm>
            <a:off x="431800" y="7992109"/>
            <a:ext cx="355600" cy="3175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Profil 58 % – fond"/>
          <p:cNvSpPr/>
          <p:nvPr/>
        </p:nvSpPr>
        <p:spPr>
          <a:xfrm>
            <a:off x="431800" y="8102600"/>
            <a:ext cx="1498600" cy="635000"/>
          </a:xfrm>
          <a:prstGeom prst="roundRect">
            <a:avLst>
              <a:gd name="adj" fmla="val 20000"/>
            </a:avLst>
          </a:prstGeom>
          <a:solidFill>
            <a:srgbClr val="E6EA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Profil 58 %"/>
          <p:cNvSpPr txBox="1"/>
          <p:nvPr/>
        </p:nvSpPr>
        <p:spPr>
          <a:xfrm>
            <a:off x="431800" y="8178800"/>
            <a:ext cx="1498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6408F"/>
                </a:solidFill>
                <a:latin typeface="Poppins"/>
              </a:rPr>
              <a:t>58 %</a:t>
            </a:r>
          </a:p>
        </p:txBody>
      </p:sp>
      <p:sp>
        <p:nvSpPr>
          <p:cNvPr id="57" name="Profil 58 % – légende"/>
          <p:cNvSpPr txBox="1"/>
          <p:nvPr/>
        </p:nvSpPr>
        <p:spPr>
          <a:xfrm>
            <a:off x="482600" y="8483600"/>
            <a:ext cx="1397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de femmes</a:t>
            </a:r>
          </a:p>
        </p:txBody>
      </p:sp>
      <p:sp>
        <p:nvSpPr>
          <p:cNvPr id="58" name="Profil 82 % – fond"/>
          <p:cNvSpPr/>
          <p:nvPr/>
        </p:nvSpPr>
        <p:spPr>
          <a:xfrm>
            <a:off x="2032000" y="8102600"/>
            <a:ext cx="1498600" cy="635000"/>
          </a:xfrm>
          <a:prstGeom prst="roundRect">
            <a:avLst>
              <a:gd name="adj" fmla="val 20000"/>
            </a:avLst>
          </a:prstGeom>
          <a:solidFill>
            <a:srgbClr val="FDE8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Profil 82 %"/>
          <p:cNvSpPr txBox="1"/>
          <p:nvPr/>
        </p:nvSpPr>
        <p:spPr>
          <a:xfrm>
            <a:off x="2032000" y="8178800"/>
            <a:ext cx="1498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F3F34"/>
                </a:solidFill>
                <a:latin typeface="Poppins"/>
              </a:rPr>
              <a:t>82 %</a:t>
            </a:r>
          </a:p>
        </p:txBody>
      </p:sp>
      <p:sp>
        <p:nvSpPr>
          <p:cNvPr id="60" name="Profil 82 % – légende"/>
          <p:cNvSpPr txBox="1"/>
          <p:nvPr/>
        </p:nvSpPr>
        <p:spPr>
          <a:xfrm>
            <a:off x="2082800" y="8483600"/>
            <a:ext cx="1397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d’anciens demandeurs d’emploi</a:t>
            </a:r>
          </a:p>
        </p:txBody>
      </p:sp>
      <p:sp>
        <p:nvSpPr>
          <p:cNvPr id="61" name="Profil 81 % – fond"/>
          <p:cNvSpPr/>
          <p:nvPr/>
        </p:nvSpPr>
        <p:spPr>
          <a:xfrm>
            <a:off x="431800" y="8839200"/>
            <a:ext cx="1498600" cy="635000"/>
          </a:xfrm>
          <a:prstGeom prst="roundRect">
            <a:avLst>
              <a:gd name="adj" fmla="val 20000"/>
            </a:avLst>
          </a:prstGeom>
          <a:solidFill>
            <a:srgbClr val="FEEFD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Profil 81 %"/>
          <p:cNvSpPr txBox="1"/>
          <p:nvPr/>
        </p:nvSpPr>
        <p:spPr>
          <a:xfrm>
            <a:off x="431800" y="8915400"/>
            <a:ext cx="1498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89410"/>
                </a:solidFill>
                <a:latin typeface="Poppins"/>
              </a:rPr>
              <a:t>81 %</a:t>
            </a:r>
          </a:p>
        </p:txBody>
      </p:sp>
      <p:sp>
        <p:nvSpPr>
          <p:cNvPr id="63" name="Profil 81 % – légende"/>
          <p:cNvSpPr txBox="1"/>
          <p:nvPr/>
        </p:nvSpPr>
        <p:spPr>
          <a:xfrm>
            <a:off x="482600" y="9220200"/>
            <a:ext cx="1397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de travailleurs handicapés</a:t>
            </a:r>
          </a:p>
        </p:txBody>
      </p:sp>
      <p:sp>
        <p:nvSpPr>
          <p:cNvPr id="64" name="Profil 48 ans – fond"/>
          <p:cNvSpPr/>
          <p:nvPr/>
        </p:nvSpPr>
        <p:spPr>
          <a:xfrm>
            <a:off x="2032000" y="8839200"/>
            <a:ext cx="1498600" cy="635000"/>
          </a:xfrm>
          <a:prstGeom prst="roundRect">
            <a:avLst>
              <a:gd name="adj" fmla="val 20000"/>
            </a:avLst>
          </a:prstGeom>
          <a:solidFill>
            <a:srgbClr val="E1F5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Profil 48 ans"/>
          <p:cNvSpPr txBox="1"/>
          <p:nvPr/>
        </p:nvSpPr>
        <p:spPr>
          <a:xfrm>
            <a:off x="2032000" y="8915400"/>
            <a:ext cx="1498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6B995"/>
                </a:solidFill>
                <a:latin typeface="Poppins"/>
              </a:rPr>
              <a:t>48 ans</a:t>
            </a:r>
          </a:p>
        </p:txBody>
      </p:sp>
      <p:sp>
        <p:nvSpPr>
          <p:cNvPr id="66" name="Profil 48 ans – légende"/>
          <p:cNvSpPr txBox="1"/>
          <p:nvPr/>
        </p:nvSpPr>
        <p:spPr>
          <a:xfrm>
            <a:off x="2082800" y="9220200"/>
            <a:ext cx="1397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2B2B2B"/>
                </a:solidFill>
                <a:latin typeface="Open Sans"/>
              </a:rPr>
              <a:t>d’âge moyen</a:t>
            </a:r>
          </a:p>
        </p:txBody>
      </p:sp>
      <p:sp>
        <p:nvSpPr>
          <p:cNvPr id="67" name="Témoignage – fond"/>
          <p:cNvSpPr/>
          <p:nvPr/>
        </p:nvSpPr>
        <p:spPr>
          <a:xfrm>
            <a:off x="3632200" y="8102600"/>
            <a:ext cx="3496309" cy="13716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143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8" name="Témoignage – filet"/>
          <p:cNvSpPr/>
          <p:nvPr/>
        </p:nvSpPr>
        <p:spPr>
          <a:xfrm>
            <a:off x="3632200" y="8280400"/>
            <a:ext cx="38100" cy="101600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Témoignage – cercle photo"/>
          <p:cNvSpPr/>
          <p:nvPr/>
        </p:nvSpPr>
        <p:spPr>
          <a:xfrm>
            <a:off x="6290309" y="8382000"/>
            <a:ext cx="685800" cy="685800"/>
          </a:xfrm>
          <a:prstGeom prst="ellipse">
            <a:avLst/>
          </a:prstGeom>
          <a:solidFill>
            <a:srgbClr val="E6EA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0" name="Photo – Amalia Raynal" descr="amalia_ray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409" y="8420100"/>
            <a:ext cx="609600" cy="609600"/>
          </a:xfrm>
          <a:prstGeom prst="rect">
            <a:avLst/>
          </a:prstGeom>
        </p:spPr>
      </p:pic>
      <p:sp>
        <p:nvSpPr>
          <p:cNvPr id="71" name="Témoignage – citation"/>
          <p:cNvSpPr txBox="1"/>
          <p:nvPr/>
        </p:nvSpPr>
        <p:spPr>
          <a:xfrm>
            <a:off x="3810000" y="8255000"/>
            <a:ext cx="2378709" cy="965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40" b="1" i="1">
                <a:solidFill>
                  <a:srgbClr val="26408F"/>
                </a:solidFill>
                <a:latin typeface="Open Sans"/>
              </a:rPr>
              <a:t>“En tant qu’entrepreneure, et d’autant plus dans un contexte de handicap ou de RQTH, la protection sociale peut être extrêment complexe. Grâce à EDLC, j’ai pu assurer mon activité et avancer sereinement dans mon coeur de métier, sans craindre l’imprévu. Avoir l’esprit tranquille est une clé essentielle et EDLC y répond !”</a:t>
            </a:r>
          </a:p>
        </p:txBody>
      </p:sp>
      <p:sp>
        <p:nvSpPr>
          <p:cNvPr id="72" name="Témoignage – auteur"/>
          <p:cNvSpPr txBox="1"/>
          <p:nvPr/>
        </p:nvSpPr>
        <p:spPr>
          <a:xfrm>
            <a:off x="3810000" y="9271000"/>
            <a:ext cx="3191509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 i="0">
                <a:solidFill>
                  <a:srgbClr val="6B6B6B"/>
                </a:solidFill>
                <a:latin typeface="Open Sans"/>
              </a:rPr>
              <a:t>Amalia Raynal, Assistante administrative à domicile</a:t>
            </a:r>
          </a:p>
        </p:txBody>
      </p:sp>
      <p:sp>
        <p:nvSpPr>
          <p:cNvPr id="73" name="Citation président – fond"/>
          <p:cNvSpPr/>
          <p:nvPr/>
        </p:nvSpPr>
        <p:spPr>
          <a:xfrm>
            <a:off x="431800" y="9575800"/>
            <a:ext cx="6696709" cy="635000"/>
          </a:xfrm>
          <a:prstGeom prst="roundRect">
            <a:avLst>
              <a:gd name="adj" fmla="val 20000"/>
            </a:avLst>
          </a:prstGeom>
          <a:solidFill>
            <a:srgbClr val="26408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Citation président – texte"/>
          <p:cNvSpPr txBox="1"/>
          <p:nvPr/>
        </p:nvSpPr>
        <p:spPr>
          <a:xfrm>
            <a:off x="660400" y="9690100"/>
            <a:ext cx="6239509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19" b="1" i="1">
                <a:solidFill>
                  <a:srgbClr val="FFFFFF"/>
                </a:solidFill>
                <a:latin typeface="Open Sans"/>
              </a:rPr>
              <a:t>“Dès son lancement Entrepreneurs de la Cité a dépassé les théories économiques conventionnelles pour ouvrir les portes de l’assurance aux créateurs d’entreprise les plus fragiles.”</a:t>
            </a:r>
          </a:p>
        </p:txBody>
      </p:sp>
      <p:sp>
        <p:nvSpPr>
          <p:cNvPr id="75" name="Citation président – auteur"/>
          <p:cNvSpPr txBox="1"/>
          <p:nvPr/>
        </p:nvSpPr>
        <p:spPr>
          <a:xfrm>
            <a:off x="660400" y="10007600"/>
            <a:ext cx="6239509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30" b="0" i="0">
                <a:solidFill>
                  <a:srgbClr val="C9D2EA"/>
                </a:solidFill>
                <a:latin typeface="Open Sans"/>
              </a:rPr>
              <a:t>Laurent DES BREST, Président de la Fondation EDLC</a:t>
            </a:r>
          </a:p>
        </p:txBody>
      </p:sp>
      <p:cxnSp>
        <p:nvCxnSpPr>
          <p:cNvPr id="76" name="Pied de page – filet"/>
          <p:cNvCxnSpPr/>
          <p:nvPr/>
        </p:nvCxnSpPr>
        <p:spPr>
          <a:xfrm>
            <a:off x="431800" y="10311130"/>
            <a:ext cx="6696709" cy="0"/>
          </a:xfrm>
          <a:prstGeom prst="line">
            <a:avLst/>
          </a:prstGeom>
          <a:ln w="9525">
            <a:solidFill>
              <a:srgbClr val="DDE1EC"/>
            </a:solidFill>
          </a:ln>
        </p:spPr>
      </p:cxnSp>
      <p:sp>
        <p:nvSpPr>
          <p:cNvPr id="77" name="Pied de page"/>
          <p:cNvSpPr txBox="1"/>
          <p:nvPr/>
        </p:nvSpPr>
        <p:spPr>
          <a:xfrm>
            <a:off x="431800" y="10400030"/>
            <a:ext cx="6696709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80" b="1" i="0" spc="30">
                <a:solidFill>
                  <a:srgbClr val="26408F"/>
                </a:solidFill>
                <a:latin typeface="Open Sans"/>
              </a:rPr>
              <a:t>ENTREPRENEURS DE LA CITÉ</a:t>
            </a:r>
            <a:r>
              <a:rPr sz="680" b="0" i="0" spc="30">
                <a:solidFill>
                  <a:srgbClr val="6B6B6B"/>
                </a:solidFill>
                <a:latin typeface="Open Sans"/>
              </a:rPr>
              <a:t>  •  Prévenir, protéger, pérenniser</a:t>
            </a:r>
          </a:p>
        </p:txBody>
      </p:sp>
      <p:sp>
        <p:nvSpPr>
          <p:cNvPr id="78" name="Numéro de page"/>
          <p:cNvSpPr txBox="1"/>
          <p:nvPr/>
        </p:nvSpPr>
        <p:spPr>
          <a:xfrm>
            <a:off x="6874509" y="10400030"/>
            <a:ext cx="254000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80" b="1" i="0">
                <a:solidFill>
                  <a:srgbClr val="26408F"/>
                </a:solidFill>
                <a:latin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ndeau haut corail"/>
          <p:cNvSpPr/>
          <p:nvPr/>
        </p:nvSpPr>
        <p:spPr>
          <a:xfrm>
            <a:off x="0" y="0"/>
            <a:ext cx="7560309" cy="6350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" name="Logo EDLC" descr="logo_edlc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79400"/>
            <a:ext cx="1498600" cy="443372"/>
          </a:xfrm>
          <a:prstGeom prst="rect">
            <a:avLst/>
          </a:prstGeom>
        </p:spPr>
      </p:pic>
      <p:sp>
        <p:nvSpPr>
          <p:cNvPr id="4" name="Titre page 2"/>
          <p:cNvSpPr txBox="1"/>
          <p:nvPr/>
        </p:nvSpPr>
        <p:spPr>
          <a:xfrm>
            <a:off x="431800" y="965200"/>
            <a:ext cx="6696709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6408F"/>
                </a:solidFill>
                <a:latin typeface="Poppins"/>
              </a:rPr>
              <a:t>Nous avons besoin de vous !</a:t>
            </a:r>
          </a:p>
        </p:txBody>
      </p:sp>
      <p:sp>
        <p:nvSpPr>
          <p:cNvPr id="5" name="Titre page 2 – trait"/>
          <p:cNvSpPr/>
          <p:nvPr/>
        </p:nvSpPr>
        <p:spPr>
          <a:xfrm>
            <a:off x="431800" y="1346200"/>
            <a:ext cx="457200" cy="3175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Besoin – texte"/>
          <p:cNvSpPr txBox="1"/>
          <p:nvPr/>
        </p:nvSpPr>
        <p:spPr>
          <a:xfrm>
            <a:off x="431800" y="1473200"/>
            <a:ext cx="6696709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880" b="0" i="0">
                <a:solidFill>
                  <a:srgbClr val="2B2B2B"/>
                </a:solidFill>
                <a:latin typeface="Open Sans"/>
              </a:rPr>
              <a:t>En 2027, nous avons besoin de vous à nos côtés pour donner vie à nos projets et pour construire ensemble un impact durable.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880" b="0" i="0">
                <a:solidFill>
                  <a:srgbClr val="2B2B2B"/>
                </a:solidFill>
                <a:latin typeface="Open Sans"/>
              </a:rPr>
              <a:t>En devenant mécène, votre entreprise contribue à </a:t>
            </a:r>
            <a:r>
              <a:rPr sz="880" b="1" i="0">
                <a:solidFill>
                  <a:srgbClr val="2B2B2B"/>
                </a:solidFill>
                <a:latin typeface="Open Sans"/>
              </a:rPr>
              <a:t>financer la solidarité</a:t>
            </a:r>
            <a:r>
              <a:rPr sz="880" b="0" i="0">
                <a:solidFill>
                  <a:srgbClr val="2B2B2B"/>
                </a:solidFill>
                <a:latin typeface="Open Sans"/>
              </a:rPr>
              <a:t> au cœur de notre modèle : pas de frais de gestion ni de commission sur la gestion des solutions, des protections accessibles et des actions de prévention au plus près des entrepreneurs.</a:t>
            </a:r>
          </a:p>
        </p:txBody>
      </p:sp>
      <p:sp>
        <p:nvSpPr>
          <p:cNvPr id="7" name="Quel est l’impact concret de votre soutien ?"/>
          <p:cNvSpPr txBox="1"/>
          <p:nvPr/>
        </p:nvSpPr>
        <p:spPr>
          <a:xfrm>
            <a:off x="431800" y="2286000"/>
            <a:ext cx="6696709" cy="257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6408F"/>
                </a:solidFill>
                <a:latin typeface="Poppins"/>
              </a:rPr>
              <a:t>Quel est l’impact concret de votre soutien ?</a:t>
            </a:r>
          </a:p>
        </p:txBody>
      </p:sp>
      <p:sp>
        <p:nvSpPr>
          <p:cNvPr id="8" name="Quel est l’impact concret de votre soutien ? – trait"/>
          <p:cNvSpPr/>
          <p:nvPr/>
        </p:nvSpPr>
        <p:spPr>
          <a:xfrm>
            <a:off x="431800" y="2556510"/>
            <a:ext cx="355600" cy="3175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Carte don 5 000 € – fond"/>
          <p:cNvSpPr/>
          <p:nvPr/>
        </p:nvSpPr>
        <p:spPr>
          <a:xfrm>
            <a:off x="431800" y="2667000"/>
            <a:ext cx="1588452" cy="2184400"/>
          </a:xfrm>
          <a:prstGeom prst="roundRect">
            <a:avLst>
              <a:gd name="adj" fmla="val 7995"/>
            </a:avLst>
          </a:prstGeom>
          <a:solidFill>
            <a:srgbClr val="FFF5D2"/>
          </a:solidFill>
          <a:ln w="12700">
            <a:solidFill>
              <a:srgbClr val="FFCB1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Carte don 5 000 € – bandeau"/>
          <p:cNvSpPr/>
          <p:nvPr/>
        </p:nvSpPr>
        <p:spPr>
          <a:xfrm>
            <a:off x="431800" y="2667000"/>
            <a:ext cx="1588452" cy="635000"/>
          </a:xfrm>
          <a:prstGeom prst="roundRect">
            <a:avLst>
              <a:gd name="adj" fmla="val 20000"/>
            </a:avLst>
          </a:prstGeom>
          <a:solidFill>
            <a:srgbClr val="FFCB1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Carte don 5 000 € – bandeau (raccord)"/>
          <p:cNvSpPr/>
          <p:nvPr/>
        </p:nvSpPr>
        <p:spPr>
          <a:xfrm>
            <a:off x="431800" y="3098800"/>
            <a:ext cx="1588452" cy="203200"/>
          </a:xfrm>
          <a:prstGeom prst="rect">
            <a:avLst/>
          </a:prstGeom>
          <a:solidFill>
            <a:srgbClr val="FFCB1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Carte don 5 000 € – libellé"/>
          <p:cNvSpPr txBox="1"/>
          <p:nvPr/>
        </p:nvSpPr>
        <p:spPr>
          <a:xfrm>
            <a:off x="584200" y="2781300"/>
            <a:ext cx="1334452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1" i="0" spc="120">
                <a:solidFill>
                  <a:srgbClr val="26408F"/>
                </a:solidFill>
                <a:latin typeface="Open Sans"/>
              </a:rPr>
              <a:t>DON</a:t>
            </a:r>
          </a:p>
        </p:txBody>
      </p:sp>
      <p:sp>
        <p:nvSpPr>
          <p:cNvPr id="13" name="Carte don 5 000 € – montant"/>
          <p:cNvSpPr txBox="1"/>
          <p:nvPr/>
        </p:nvSpPr>
        <p:spPr>
          <a:xfrm>
            <a:off x="584200" y="2921000"/>
            <a:ext cx="1334452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6408F"/>
                </a:solidFill>
                <a:latin typeface="Poppins"/>
              </a:rPr>
              <a:t>5 000 €</a:t>
            </a:r>
          </a:p>
        </p:txBody>
      </p:sp>
      <p:sp>
        <p:nvSpPr>
          <p:cNvPr id="14" name="Carte don 5 000 € – libellé impact"/>
          <p:cNvSpPr txBox="1"/>
          <p:nvPr/>
        </p:nvSpPr>
        <p:spPr>
          <a:xfrm>
            <a:off x="584200" y="3429000"/>
            <a:ext cx="1334452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1" i="0" spc="100">
                <a:solidFill>
                  <a:srgbClr val="F89410"/>
                </a:solidFill>
                <a:latin typeface="Open Sans"/>
              </a:rPr>
              <a:t>IMPACT MESURABLE</a:t>
            </a:r>
          </a:p>
        </p:txBody>
      </p:sp>
      <p:sp>
        <p:nvSpPr>
          <p:cNvPr id="15" name="Carte don 5 000 € – impact"/>
          <p:cNvSpPr txBox="1"/>
          <p:nvPr/>
        </p:nvSpPr>
        <p:spPr>
          <a:xfrm>
            <a:off x="584200" y="3619500"/>
            <a:ext cx="1334452" cy="1168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819" b="1" i="0">
                <a:solidFill>
                  <a:srgbClr val="2B2B2B"/>
                </a:solidFill>
                <a:latin typeface="Open Sans"/>
              </a:rPr>
              <a:t>30 entrepreneurs</a:t>
            </a:r>
            <a:r>
              <a:rPr sz="819" b="0" i="0">
                <a:solidFill>
                  <a:srgbClr val="2B2B2B"/>
                </a:solidFill>
                <a:latin typeface="Open Sans"/>
              </a:rPr>
              <a:t> accèdent à l’assurance sociale et solidaire et sont accompagnés pendant 1 an</a:t>
            </a:r>
          </a:p>
        </p:txBody>
      </p:sp>
      <p:sp>
        <p:nvSpPr>
          <p:cNvPr id="16" name="Carte don 10 000 € – fond"/>
          <p:cNvSpPr/>
          <p:nvPr/>
        </p:nvSpPr>
        <p:spPr>
          <a:xfrm>
            <a:off x="2134552" y="2667000"/>
            <a:ext cx="1588452" cy="2184400"/>
          </a:xfrm>
          <a:prstGeom prst="roundRect">
            <a:avLst>
              <a:gd name="adj" fmla="val 7995"/>
            </a:avLst>
          </a:prstGeom>
          <a:solidFill>
            <a:srgbClr val="FEEFDB"/>
          </a:solidFill>
          <a:ln w="12700">
            <a:solidFill>
              <a:srgbClr val="F8941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Carte don 10 000 € – bandeau"/>
          <p:cNvSpPr/>
          <p:nvPr/>
        </p:nvSpPr>
        <p:spPr>
          <a:xfrm>
            <a:off x="2134552" y="2667000"/>
            <a:ext cx="1588452" cy="635000"/>
          </a:xfrm>
          <a:prstGeom prst="roundRect">
            <a:avLst>
              <a:gd name="adj" fmla="val 20000"/>
            </a:avLst>
          </a:prstGeom>
          <a:solidFill>
            <a:srgbClr val="F8941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Carte don 10 000 € – bandeau (raccord)"/>
          <p:cNvSpPr/>
          <p:nvPr/>
        </p:nvSpPr>
        <p:spPr>
          <a:xfrm>
            <a:off x="2134552" y="3098800"/>
            <a:ext cx="1588452" cy="203200"/>
          </a:xfrm>
          <a:prstGeom prst="rect">
            <a:avLst/>
          </a:prstGeom>
          <a:solidFill>
            <a:srgbClr val="F8941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Carte don 10 000 € – libellé"/>
          <p:cNvSpPr txBox="1"/>
          <p:nvPr/>
        </p:nvSpPr>
        <p:spPr>
          <a:xfrm>
            <a:off x="2286952" y="2781300"/>
            <a:ext cx="1334452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1" i="0" spc="120">
                <a:solidFill>
                  <a:srgbClr val="FFFFFF"/>
                </a:solidFill>
                <a:latin typeface="Open Sans"/>
              </a:rPr>
              <a:t>DON</a:t>
            </a:r>
          </a:p>
        </p:txBody>
      </p:sp>
      <p:sp>
        <p:nvSpPr>
          <p:cNvPr id="20" name="Carte don 10 000 € – montant"/>
          <p:cNvSpPr txBox="1"/>
          <p:nvPr/>
        </p:nvSpPr>
        <p:spPr>
          <a:xfrm>
            <a:off x="2286952" y="2921000"/>
            <a:ext cx="1334452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oppins"/>
              </a:rPr>
              <a:t>10 000 €</a:t>
            </a:r>
          </a:p>
        </p:txBody>
      </p:sp>
      <p:sp>
        <p:nvSpPr>
          <p:cNvPr id="21" name="Carte don 10 000 € – libellé impact"/>
          <p:cNvSpPr txBox="1"/>
          <p:nvPr/>
        </p:nvSpPr>
        <p:spPr>
          <a:xfrm>
            <a:off x="2286952" y="3429000"/>
            <a:ext cx="1334452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1" i="0" spc="100">
                <a:solidFill>
                  <a:srgbClr val="F89410"/>
                </a:solidFill>
                <a:latin typeface="Open Sans"/>
              </a:rPr>
              <a:t>IMPACT MESURABLE</a:t>
            </a:r>
          </a:p>
        </p:txBody>
      </p:sp>
      <p:sp>
        <p:nvSpPr>
          <p:cNvPr id="22" name="Carte don 10 000 € – impact"/>
          <p:cNvSpPr txBox="1"/>
          <p:nvPr/>
        </p:nvSpPr>
        <p:spPr>
          <a:xfrm>
            <a:off x="2286952" y="3619500"/>
            <a:ext cx="1334452" cy="1168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819" b="1" i="0">
                <a:solidFill>
                  <a:srgbClr val="2B2B2B"/>
                </a:solidFill>
                <a:latin typeface="Open Sans"/>
              </a:rPr>
              <a:t>60 entrepreneurs</a:t>
            </a:r>
            <a:r>
              <a:rPr sz="819" b="0" i="0">
                <a:solidFill>
                  <a:srgbClr val="2B2B2B"/>
                </a:solidFill>
                <a:latin typeface="Open Sans"/>
              </a:rPr>
              <a:t> accèdent à l’assurance sociale et solidaire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819" b="1" i="0">
                <a:solidFill>
                  <a:srgbClr val="2B2B2B"/>
                </a:solidFill>
                <a:latin typeface="Open Sans"/>
              </a:rPr>
              <a:t>44 entrepreneurs</a:t>
            </a:r>
            <a:r>
              <a:rPr sz="819" b="0" i="0">
                <a:solidFill>
                  <a:srgbClr val="2B2B2B"/>
                </a:solidFill>
                <a:latin typeface="Open Sans"/>
              </a:rPr>
              <a:t> sont formés à la gestion des risques liés à l’entrepreneuriat</a:t>
            </a:r>
          </a:p>
        </p:txBody>
      </p:sp>
      <p:sp>
        <p:nvSpPr>
          <p:cNvPr id="23" name="Carte don 20 000 € – fond"/>
          <p:cNvSpPr/>
          <p:nvPr/>
        </p:nvSpPr>
        <p:spPr>
          <a:xfrm>
            <a:off x="3837304" y="2667000"/>
            <a:ext cx="1588452" cy="2184400"/>
          </a:xfrm>
          <a:prstGeom prst="roundRect">
            <a:avLst>
              <a:gd name="adj" fmla="val 7995"/>
            </a:avLst>
          </a:prstGeom>
          <a:solidFill>
            <a:srgbClr val="FDE8E6"/>
          </a:solidFill>
          <a:ln w="12700">
            <a:solidFill>
              <a:srgbClr val="EF3F3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Carte don 20 000 € – bandeau"/>
          <p:cNvSpPr/>
          <p:nvPr/>
        </p:nvSpPr>
        <p:spPr>
          <a:xfrm>
            <a:off x="3837304" y="2667000"/>
            <a:ext cx="1588452" cy="635000"/>
          </a:xfrm>
          <a:prstGeom prst="roundRect">
            <a:avLst>
              <a:gd name="adj" fmla="val 20000"/>
            </a:avLst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Carte don 20 000 € – bandeau (raccord)"/>
          <p:cNvSpPr/>
          <p:nvPr/>
        </p:nvSpPr>
        <p:spPr>
          <a:xfrm>
            <a:off x="3837304" y="3098800"/>
            <a:ext cx="1588452" cy="20320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Carte don 20 000 € – libellé"/>
          <p:cNvSpPr txBox="1"/>
          <p:nvPr/>
        </p:nvSpPr>
        <p:spPr>
          <a:xfrm>
            <a:off x="3989704" y="2781300"/>
            <a:ext cx="1334452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1" i="0" spc="120">
                <a:solidFill>
                  <a:srgbClr val="FFFFFF"/>
                </a:solidFill>
                <a:latin typeface="Open Sans"/>
              </a:rPr>
              <a:t>DON</a:t>
            </a:r>
          </a:p>
        </p:txBody>
      </p:sp>
      <p:sp>
        <p:nvSpPr>
          <p:cNvPr id="27" name="Carte don 20 000 € – montant"/>
          <p:cNvSpPr txBox="1"/>
          <p:nvPr/>
        </p:nvSpPr>
        <p:spPr>
          <a:xfrm>
            <a:off x="3989704" y="2921000"/>
            <a:ext cx="1334452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oppins"/>
              </a:rPr>
              <a:t>20 000 €</a:t>
            </a:r>
          </a:p>
        </p:txBody>
      </p:sp>
      <p:sp>
        <p:nvSpPr>
          <p:cNvPr id="28" name="Carte don 20 000 € – libellé impact"/>
          <p:cNvSpPr txBox="1"/>
          <p:nvPr/>
        </p:nvSpPr>
        <p:spPr>
          <a:xfrm>
            <a:off x="3989704" y="3429000"/>
            <a:ext cx="1334452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1" i="0" spc="100">
                <a:solidFill>
                  <a:srgbClr val="EF3F34"/>
                </a:solidFill>
                <a:latin typeface="Open Sans"/>
              </a:rPr>
              <a:t>IMPACT MESURABLE</a:t>
            </a:r>
          </a:p>
        </p:txBody>
      </p:sp>
      <p:sp>
        <p:nvSpPr>
          <p:cNvPr id="29" name="Carte don 20 000 € – impact"/>
          <p:cNvSpPr txBox="1"/>
          <p:nvPr/>
        </p:nvSpPr>
        <p:spPr>
          <a:xfrm>
            <a:off x="3989704" y="3619500"/>
            <a:ext cx="1334452" cy="1168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819" b="1" i="0">
                <a:solidFill>
                  <a:srgbClr val="2B2B2B"/>
                </a:solidFill>
                <a:latin typeface="Open Sans"/>
              </a:rPr>
              <a:t>120 entrepreneurs</a:t>
            </a:r>
            <a:r>
              <a:rPr sz="819" b="0" i="0">
                <a:solidFill>
                  <a:srgbClr val="2B2B2B"/>
                </a:solidFill>
                <a:latin typeface="Open Sans"/>
              </a:rPr>
              <a:t> accèdent à l’assurance sociale et solidaire 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819" b="1" i="1">
                <a:solidFill>
                  <a:srgbClr val="2B2B2B"/>
                </a:solidFill>
                <a:latin typeface="Open Sans"/>
              </a:rPr>
              <a:t>132</a:t>
            </a:r>
            <a:r>
              <a:rPr sz="819" b="1" i="0">
                <a:solidFill>
                  <a:srgbClr val="2B2B2B"/>
                </a:solidFill>
                <a:latin typeface="Open Sans"/>
              </a:rPr>
              <a:t> entrepreneurs</a:t>
            </a:r>
            <a:r>
              <a:rPr sz="819" b="0" i="0">
                <a:solidFill>
                  <a:srgbClr val="2B2B2B"/>
                </a:solidFill>
                <a:latin typeface="Open Sans"/>
              </a:rPr>
              <a:t> sont formés à la gestion des risques</a:t>
            </a:r>
          </a:p>
        </p:txBody>
      </p:sp>
      <p:sp>
        <p:nvSpPr>
          <p:cNvPr id="30" name="Carte don 50 000 € – fond"/>
          <p:cNvSpPr/>
          <p:nvPr/>
        </p:nvSpPr>
        <p:spPr>
          <a:xfrm>
            <a:off x="5540057" y="2667000"/>
            <a:ext cx="1588452" cy="2184400"/>
          </a:xfrm>
          <a:prstGeom prst="roundRect">
            <a:avLst>
              <a:gd name="adj" fmla="val 7995"/>
            </a:avLst>
          </a:prstGeom>
          <a:solidFill>
            <a:srgbClr val="E6EAF5"/>
          </a:solidFill>
          <a:ln w="12700">
            <a:solidFill>
              <a:srgbClr val="26408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Carte don 50 000 € – bandeau"/>
          <p:cNvSpPr/>
          <p:nvPr/>
        </p:nvSpPr>
        <p:spPr>
          <a:xfrm>
            <a:off x="5540057" y="2667000"/>
            <a:ext cx="1588452" cy="635000"/>
          </a:xfrm>
          <a:prstGeom prst="roundRect">
            <a:avLst>
              <a:gd name="adj" fmla="val 20000"/>
            </a:avLst>
          </a:prstGeom>
          <a:solidFill>
            <a:srgbClr val="26408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Carte don 50 000 € – bandeau (raccord)"/>
          <p:cNvSpPr/>
          <p:nvPr/>
        </p:nvSpPr>
        <p:spPr>
          <a:xfrm>
            <a:off x="5540057" y="3098800"/>
            <a:ext cx="1588452" cy="203200"/>
          </a:xfrm>
          <a:prstGeom prst="rect">
            <a:avLst/>
          </a:prstGeom>
          <a:solidFill>
            <a:srgbClr val="26408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Carte don 50 000 € – libellé"/>
          <p:cNvSpPr txBox="1"/>
          <p:nvPr/>
        </p:nvSpPr>
        <p:spPr>
          <a:xfrm>
            <a:off x="5692457" y="2781300"/>
            <a:ext cx="1334452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1" i="0" spc="120">
                <a:solidFill>
                  <a:srgbClr val="FFFFFF"/>
                </a:solidFill>
                <a:latin typeface="Open Sans"/>
              </a:rPr>
              <a:t>DON</a:t>
            </a:r>
          </a:p>
        </p:txBody>
      </p:sp>
      <p:sp>
        <p:nvSpPr>
          <p:cNvPr id="34" name="Carte don 50 000 € – montant"/>
          <p:cNvSpPr txBox="1"/>
          <p:nvPr/>
        </p:nvSpPr>
        <p:spPr>
          <a:xfrm>
            <a:off x="5692457" y="2921000"/>
            <a:ext cx="1334452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oppins"/>
              </a:rPr>
              <a:t>50 000 €</a:t>
            </a:r>
          </a:p>
        </p:txBody>
      </p:sp>
      <p:sp>
        <p:nvSpPr>
          <p:cNvPr id="35" name="Carte don 50 000 € – libellé impact"/>
          <p:cNvSpPr txBox="1"/>
          <p:nvPr/>
        </p:nvSpPr>
        <p:spPr>
          <a:xfrm>
            <a:off x="5692457" y="3429000"/>
            <a:ext cx="1334452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1" i="0" spc="100">
                <a:solidFill>
                  <a:srgbClr val="26408F"/>
                </a:solidFill>
                <a:latin typeface="Open Sans"/>
              </a:rPr>
              <a:t>IMPACT MESURABLE</a:t>
            </a:r>
          </a:p>
        </p:txBody>
      </p:sp>
      <p:sp>
        <p:nvSpPr>
          <p:cNvPr id="36" name="Carte don 50 000 € – impact"/>
          <p:cNvSpPr txBox="1"/>
          <p:nvPr/>
        </p:nvSpPr>
        <p:spPr>
          <a:xfrm>
            <a:off x="5692457" y="3619500"/>
            <a:ext cx="1334452" cy="1168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819" b="1" i="0">
                <a:solidFill>
                  <a:srgbClr val="2B2B2B"/>
                </a:solidFill>
                <a:latin typeface="Open Sans"/>
              </a:rPr>
              <a:t>300 entrepreneurs</a:t>
            </a:r>
            <a:r>
              <a:rPr sz="819" b="0" i="0">
                <a:solidFill>
                  <a:srgbClr val="2B2B2B"/>
                </a:solidFill>
                <a:latin typeface="Open Sans"/>
              </a:rPr>
              <a:t> accèdent à l’assurance sociale et solidaire 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819" b="1" i="1">
                <a:solidFill>
                  <a:srgbClr val="2B2B2B"/>
                </a:solidFill>
                <a:latin typeface="Open Sans"/>
              </a:rPr>
              <a:t>396</a:t>
            </a:r>
            <a:r>
              <a:rPr sz="819" b="1" i="0">
                <a:solidFill>
                  <a:srgbClr val="2B2B2B"/>
                </a:solidFill>
                <a:latin typeface="Open Sans"/>
              </a:rPr>
              <a:t> entrepreneurs</a:t>
            </a:r>
            <a:r>
              <a:rPr sz="819" b="0" i="0">
                <a:solidFill>
                  <a:srgbClr val="2B2B2B"/>
                </a:solidFill>
                <a:latin typeface="Open Sans"/>
              </a:rPr>
              <a:t> sont formés à la gestion des risques</a:t>
            </a:r>
          </a:p>
        </p:txBody>
      </p:sp>
      <p:sp>
        <p:nvSpPr>
          <p:cNvPr id="37" name="Quel est le coût net de votre mécénat ?"/>
          <p:cNvSpPr txBox="1"/>
          <p:nvPr/>
        </p:nvSpPr>
        <p:spPr>
          <a:xfrm>
            <a:off x="431800" y="5054600"/>
            <a:ext cx="6696709" cy="257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6408F"/>
                </a:solidFill>
                <a:latin typeface="Poppins"/>
              </a:rPr>
              <a:t>Quel est le coût net de votre mécénat ?</a:t>
            </a:r>
          </a:p>
        </p:txBody>
      </p:sp>
      <p:sp>
        <p:nvSpPr>
          <p:cNvPr id="38" name="Quel est le coût net de votre mécénat ? – trait"/>
          <p:cNvSpPr/>
          <p:nvPr/>
        </p:nvSpPr>
        <p:spPr>
          <a:xfrm>
            <a:off x="431800" y="5325110"/>
            <a:ext cx="355600" cy="3175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Coût net – texte"/>
          <p:cNvSpPr txBox="1"/>
          <p:nvPr/>
        </p:nvSpPr>
        <p:spPr>
          <a:xfrm>
            <a:off x="431800" y="5435600"/>
            <a:ext cx="6696709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2B2B2B"/>
                </a:solidFill>
                <a:latin typeface="Open Sans"/>
              </a:rPr>
              <a:t>Pour une entreprise éligible au régime français du mécénat, la réduction d’impôt est de 60 % du don dans la limite des plafonds légaux applicables*.</a:t>
            </a:r>
          </a:p>
        </p:txBody>
      </p:sp>
      <p:graphicFrame>
        <p:nvGraphicFramePr>
          <p:cNvPr id="40" name="Tableau coût net du mécénat"/>
          <p:cNvGraphicFramePr>
            <a:graphicFrameLocks noGrp="1"/>
          </p:cNvGraphicFramePr>
          <p:nvPr/>
        </p:nvGraphicFramePr>
        <p:xfrm>
          <a:off x="431800" y="5816600"/>
          <a:ext cx="6696709" cy="1320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76881"/>
                <a:gridCol w="2276881"/>
                <a:gridCol w="2142947"/>
              </a:tblGrid>
              <a:tr h="355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40" b="1">
                          <a:solidFill>
                            <a:srgbClr val="FFFFFF"/>
                          </a:solidFill>
                          <a:latin typeface="Open Sans"/>
                        </a:rPr>
                        <a:t>DON</a:t>
                      </a:r>
                    </a:p>
                  </a:txBody>
                  <a:tcPr marL="76200" marR="76200" marT="25400" marB="25400" anchor="ctr">
                    <a:solidFill>
                      <a:srgbClr val="26408F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40" b="1">
                          <a:solidFill>
                            <a:srgbClr val="FFFFFF"/>
                          </a:solidFill>
                          <a:latin typeface="Open Sans"/>
                        </a:rPr>
                        <a:t>RÉDUCTION D’IMPÔT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40" b="1">
                          <a:solidFill>
                            <a:srgbClr val="FFFFFF"/>
                          </a:solidFill>
                          <a:latin typeface="Open Sans"/>
                        </a:rPr>
                        <a:t>INDICATIVE (60 %)</a:t>
                      </a:r>
                    </a:p>
                  </a:txBody>
                  <a:tcPr marL="76200" marR="76200" marT="25400" marB="25400" anchor="ctr">
                    <a:solidFill>
                      <a:srgbClr val="26408F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40" b="1">
                          <a:solidFill>
                            <a:srgbClr val="FFFFFF"/>
                          </a:solidFill>
                          <a:latin typeface="Open Sans"/>
                        </a:rPr>
                        <a:t>COÛT NET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40" b="1">
                          <a:solidFill>
                            <a:srgbClr val="FFFFFF"/>
                          </a:solidFill>
                          <a:latin typeface="Open Sans"/>
                        </a:rPr>
                        <a:t>INDICATIF</a:t>
                      </a:r>
                    </a:p>
                  </a:txBody>
                  <a:tcPr marL="76200" marR="76200" marT="25400" marB="25400" anchor="ctr">
                    <a:solidFill>
                      <a:srgbClr val="26408F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</a:tr>
              <a:tr h="2413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6408F"/>
                          </a:solidFill>
                          <a:latin typeface="Open Sans"/>
                        </a:rPr>
                        <a:t>5 000 €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Open Sans"/>
                        </a:rPr>
                        <a:t>3 000 €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6408F"/>
                          </a:solidFill>
                          <a:latin typeface="Open Sans"/>
                        </a:rPr>
                        <a:t>2 000 €</a:t>
                      </a:r>
                    </a:p>
                  </a:txBody>
                  <a:tcPr marL="76200" marR="76200" marT="25400" marB="25400" anchor="ctr">
                    <a:solidFill>
                      <a:srgbClr val="E6EAF5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</a:tr>
              <a:tr h="2413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6408F"/>
                          </a:solidFill>
                          <a:latin typeface="Open Sans"/>
                        </a:rPr>
                        <a:t>10 000 €</a:t>
                      </a:r>
                    </a:p>
                  </a:txBody>
                  <a:tcPr marL="76200" marR="76200" marT="25400" marB="25400" anchor="ctr">
                    <a:solidFill>
                      <a:srgbClr val="F6F7FB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Open Sans"/>
                        </a:rPr>
                        <a:t>6 000 €</a:t>
                      </a:r>
                    </a:p>
                  </a:txBody>
                  <a:tcPr marL="76200" marR="76200" marT="25400" marB="25400" anchor="ctr">
                    <a:solidFill>
                      <a:srgbClr val="F6F7FB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6408F"/>
                          </a:solidFill>
                          <a:latin typeface="Open Sans"/>
                        </a:rPr>
                        <a:t>4 000 €</a:t>
                      </a:r>
                    </a:p>
                  </a:txBody>
                  <a:tcPr marL="76200" marR="76200" marT="25400" marB="25400" anchor="ctr">
                    <a:solidFill>
                      <a:srgbClr val="E6EAF5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</a:tr>
              <a:tr h="2413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6408F"/>
                          </a:solidFill>
                          <a:latin typeface="Open Sans"/>
                        </a:rPr>
                        <a:t>20 000 €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Open Sans"/>
                        </a:rPr>
                        <a:t>12 000 €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6408F"/>
                          </a:solidFill>
                          <a:latin typeface="Open Sans"/>
                        </a:rPr>
                        <a:t>8 000 €</a:t>
                      </a:r>
                    </a:p>
                  </a:txBody>
                  <a:tcPr marL="76200" marR="76200" marT="25400" marB="25400" anchor="ctr">
                    <a:solidFill>
                      <a:srgbClr val="E6EAF5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</a:tr>
              <a:tr h="2413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6408F"/>
                          </a:solidFill>
                          <a:latin typeface="Open Sans"/>
                        </a:rPr>
                        <a:t>50 000 €</a:t>
                      </a:r>
                    </a:p>
                  </a:txBody>
                  <a:tcPr marL="76200" marR="76200" marT="25400" marB="25400" anchor="ctr">
                    <a:solidFill>
                      <a:srgbClr val="F6F7FB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2B2B2B"/>
                          </a:solidFill>
                          <a:latin typeface="Open Sans"/>
                        </a:rPr>
                        <a:t>30 000 €</a:t>
                      </a:r>
                    </a:p>
                  </a:txBody>
                  <a:tcPr marL="76200" marR="76200" marT="25400" marB="25400" anchor="ctr">
                    <a:solidFill>
                      <a:srgbClr val="F6F7FB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26408F"/>
                          </a:solidFill>
                          <a:latin typeface="Open Sans"/>
                        </a:rPr>
                        <a:t>20 000 €</a:t>
                      </a:r>
                    </a:p>
                  </a:txBody>
                  <a:tcPr marL="76200" marR="76200" marT="25400" marB="25400" anchor="ctr">
                    <a:solidFill>
                      <a:srgbClr val="E6EAF5"/>
                    </a:solidFill>
                    <a:lnL w="6350" cap="flat" cmpd="sng" algn="ctr">
                      <a:solidFill>
                        <a:srgbClr val="D9DCE6"/>
                      </a:solidFill>
                    </a:lnL>
                    <a:lnR w="6350" cap="flat" cmpd="sng" algn="ctr">
                      <a:solidFill>
                        <a:srgbClr val="D9DCE6"/>
                      </a:solidFill>
                    </a:lnR>
                    <a:lnT w="6350" cap="flat" cmpd="sng" algn="ctr">
                      <a:solidFill>
                        <a:srgbClr val="D9DCE6"/>
                      </a:solidFill>
                    </a:lnT>
                    <a:lnB w="6350" cap="flat" cmpd="sng" algn="ctr">
                      <a:solidFill>
                        <a:srgbClr val="D9DC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1" name="Note fiscale"/>
          <p:cNvSpPr txBox="1"/>
          <p:nvPr/>
        </p:nvSpPr>
        <p:spPr>
          <a:xfrm>
            <a:off x="431800" y="7239000"/>
            <a:ext cx="6696709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80" b="0" i="1">
                <a:solidFill>
                  <a:srgbClr val="6B6B6B"/>
                </a:solidFill>
                <a:latin typeface="Open Sans"/>
              </a:rPr>
              <a:t>*Le taux et le montant réellement imputable dépendent de la situation fiscale du mécène et des plafonds applicables. En règle générale, les dons ouvrant droit à réduction sont retenus dans la limite de 20 000 € ou de 0,5 % du chiffre d’affaires hors taxes si ce montant est plus élevé. Pour les versements dépassant 2 M€ sur l’année, le taux de réduction est généralement de 40 % sur la fraction excédentaire. La réduction peut être reportée dans les conditions prévues par la loi. Faites confirmer votre situation par votre conseil fiscal.</a:t>
            </a:r>
          </a:p>
        </p:txBody>
      </p:sp>
      <p:sp>
        <p:nvSpPr>
          <p:cNvPr id="42" name="Contact – fond"/>
          <p:cNvSpPr/>
          <p:nvPr/>
        </p:nvSpPr>
        <p:spPr>
          <a:xfrm>
            <a:off x="431800" y="7823200"/>
            <a:ext cx="6696709" cy="2335529"/>
          </a:xfrm>
          <a:prstGeom prst="roundRect">
            <a:avLst>
              <a:gd name="adj" fmla="val 6525"/>
            </a:avLst>
          </a:prstGeom>
          <a:solidFill>
            <a:srgbClr val="26408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Contact – titre"/>
          <p:cNvSpPr txBox="1"/>
          <p:nvPr/>
        </p:nvSpPr>
        <p:spPr>
          <a:xfrm>
            <a:off x="711200" y="8026400"/>
            <a:ext cx="6137909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oppins"/>
              </a:rPr>
              <a:t>Engageons-nous ensemble</a:t>
            </a:r>
          </a:p>
        </p:txBody>
      </p:sp>
      <p:sp>
        <p:nvSpPr>
          <p:cNvPr id="44" name="Contact – trait"/>
          <p:cNvSpPr/>
          <p:nvPr/>
        </p:nvSpPr>
        <p:spPr>
          <a:xfrm>
            <a:off x="711200" y="8356600"/>
            <a:ext cx="355600" cy="31750"/>
          </a:xfrm>
          <a:prstGeom prst="rect">
            <a:avLst/>
          </a:prstGeom>
          <a:solidFill>
            <a:srgbClr val="EF3F3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Contact – texte"/>
          <p:cNvSpPr txBox="1"/>
          <p:nvPr/>
        </p:nvSpPr>
        <p:spPr>
          <a:xfrm>
            <a:off x="711200" y="8483600"/>
            <a:ext cx="6137909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Open Sans"/>
              </a:rPr>
              <a:t>Pour toute information, n’hésitez pas à contacter </a:t>
            </a:r>
            <a:r>
              <a:rPr sz="880" b="1" i="0">
                <a:solidFill>
                  <a:srgbClr val="FFFFFF"/>
                </a:solidFill>
                <a:latin typeface="Open Sans"/>
              </a:rPr>
              <a:t>Claire BENISTI - Déléguée Générale :</a:t>
            </a:r>
          </a:p>
        </p:txBody>
      </p:sp>
      <p:sp>
        <p:nvSpPr>
          <p:cNvPr id="46" name="Picto e-mail – enveloppe"/>
          <p:cNvSpPr/>
          <p:nvPr/>
        </p:nvSpPr>
        <p:spPr>
          <a:xfrm>
            <a:off x="711200" y="8788400"/>
            <a:ext cx="139700" cy="97789"/>
          </a:xfrm>
          <a:prstGeom prst="rect">
            <a:avLst/>
          </a:prstGeom>
          <a:noFill/>
          <a:ln w="11430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7" name="Picto e-mail – rabat"/>
          <p:cNvSpPr/>
          <p:nvPr/>
        </p:nvSpPr>
        <p:spPr>
          <a:xfrm>
            <a:off x="711200" y="8788400"/>
            <a:ext cx="139700" cy="53784"/>
          </a:xfrm>
          <a:prstGeom prst="flowChartMerge">
            <a:avLst/>
          </a:pr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Contact – e-mail"/>
          <p:cNvSpPr txBox="1"/>
          <p:nvPr/>
        </p:nvSpPr>
        <p:spPr>
          <a:xfrm>
            <a:off x="965200" y="8750300"/>
            <a:ext cx="4191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 u="sng">
                <a:solidFill>
                  <a:srgbClr val="FFFFFF"/>
                </a:solidFill>
                <a:latin typeface="Open Sans"/>
                <a:hlinkClick r:id="rId3"/>
              </a:rPr>
              <a:t>claire.benisti@entrepreneursdelacite.org</a:t>
            </a:r>
          </a:p>
        </p:txBody>
      </p:sp>
      <p:sp>
        <p:nvSpPr>
          <p:cNvPr id="49" name="Picto adresse – pointe"/>
          <p:cNvSpPr/>
          <p:nvPr/>
        </p:nvSpPr>
        <p:spPr>
          <a:xfrm>
            <a:off x="745363" y="9089072"/>
            <a:ext cx="77724" cy="80962"/>
          </a:xfrm>
          <a:prstGeom prst="flowChartMerg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Picto adresse – tête"/>
          <p:cNvSpPr/>
          <p:nvPr/>
        </p:nvSpPr>
        <p:spPr>
          <a:xfrm>
            <a:off x="730250" y="9029700"/>
            <a:ext cx="107950" cy="1079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icto adresse – centre"/>
          <p:cNvSpPr/>
          <p:nvPr/>
        </p:nvSpPr>
        <p:spPr>
          <a:xfrm>
            <a:off x="762635" y="9062085"/>
            <a:ext cx="43180" cy="43180"/>
          </a:xfrm>
          <a:prstGeom prst="ellipse">
            <a:avLst/>
          </a:prstGeom>
          <a:solidFill>
            <a:srgbClr val="2640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Contact – adresse"/>
          <p:cNvSpPr txBox="1"/>
          <p:nvPr/>
        </p:nvSpPr>
        <p:spPr>
          <a:xfrm>
            <a:off x="965200" y="8991600"/>
            <a:ext cx="41910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Open Sans"/>
              </a:rPr>
              <a:t>Fondation Entrepreneurs de la Cité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Open Sans"/>
              </a:rPr>
              <a:t>31 place Jules Grandclément - 69100 Villeurbanne</a:t>
            </a:r>
          </a:p>
        </p:txBody>
      </p:sp>
      <p:sp>
        <p:nvSpPr>
          <p:cNvPr id="53" name="Picto web – globe"/>
          <p:cNvSpPr/>
          <p:nvPr/>
        </p:nvSpPr>
        <p:spPr>
          <a:xfrm>
            <a:off x="717550" y="9398000"/>
            <a:ext cx="127000" cy="127000"/>
          </a:xfrm>
          <a:prstGeom prst="ellipse">
            <a:avLst/>
          </a:pr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Picto web – méridien"/>
          <p:cNvSpPr/>
          <p:nvPr/>
        </p:nvSpPr>
        <p:spPr>
          <a:xfrm>
            <a:off x="755650" y="9398000"/>
            <a:ext cx="50800" cy="127000"/>
          </a:xfrm>
          <a:prstGeom prst="ellipse">
            <a:avLst/>
          </a:pr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5" name="Picto web – équateur"/>
          <p:cNvCxnSpPr/>
          <p:nvPr/>
        </p:nvCxnSpPr>
        <p:spPr>
          <a:xfrm>
            <a:off x="717550" y="9461500"/>
            <a:ext cx="127000" cy="0"/>
          </a:xfrm>
          <a:prstGeom prst="line">
            <a:avLst/>
          </a:prstGeom>
          <a:ln w="11430">
            <a:solidFill>
              <a:srgbClr val="FFFFFF"/>
            </a:solidFill>
          </a:ln>
        </p:spPr>
      </p:cxnSp>
      <p:sp>
        <p:nvSpPr>
          <p:cNvPr id="56" name="Contact – site web"/>
          <p:cNvSpPr txBox="1"/>
          <p:nvPr/>
        </p:nvSpPr>
        <p:spPr>
          <a:xfrm>
            <a:off x="965200" y="9385300"/>
            <a:ext cx="4191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 u="sng">
                <a:solidFill>
                  <a:srgbClr val="FFFFFF"/>
                </a:solidFill>
                <a:latin typeface="Open Sans"/>
                <a:hlinkClick r:id="rId4"/>
              </a:rPr>
              <a:t>www.entrepreneursdelacite.org</a:t>
            </a:r>
          </a:p>
        </p:txBody>
      </p:sp>
      <p:sp>
        <p:nvSpPr>
          <p:cNvPr id="57" name="Contact – accroche"/>
          <p:cNvSpPr txBox="1"/>
          <p:nvPr/>
        </p:nvSpPr>
        <p:spPr>
          <a:xfrm>
            <a:off x="711200" y="9728200"/>
            <a:ext cx="6137909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1" i="1">
                <a:solidFill>
                  <a:srgbClr val="FFFFFF"/>
                </a:solidFill>
                <a:latin typeface="Open Sans"/>
              </a:rPr>
              <a:t>Prenons contact pour construire un partenariat à la hauteur de vos engagements !</a:t>
            </a:r>
          </a:p>
        </p:txBody>
      </p:sp>
      <p:cxnSp>
        <p:nvCxnSpPr>
          <p:cNvPr id="58" name="Pied de page – filet"/>
          <p:cNvCxnSpPr/>
          <p:nvPr/>
        </p:nvCxnSpPr>
        <p:spPr>
          <a:xfrm>
            <a:off x="431800" y="10311130"/>
            <a:ext cx="6696709" cy="0"/>
          </a:xfrm>
          <a:prstGeom prst="line">
            <a:avLst/>
          </a:prstGeom>
          <a:ln w="9525">
            <a:solidFill>
              <a:srgbClr val="DDE1EC"/>
            </a:solidFill>
          </a:ln>
        </p:spPr>
      </p:cxnSp>
      <p:sp>
        <p:nvSpPr>
          <p:cNvPr id="59" name="Pied de page"/>
          <p:cNvSpPr txBox="1"/>
          <p:nvPr/>
        </p:nvSpPr>
        <p:spPr>
          <a:xfrm>
            <a:off x="431800" y="10400030"/>
            <a:ext cx="6696709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80" b="1" i="0" spc="30">
                <a:solidFill>
                  <a:srgbClr val="26408F"/>
                </a:solidFill>
                <a:latin typeface="Open Sans"/>
              </a:rPr>
              <a:t>ENTREPRENEURS DE LA CITÉ</a:t>
            </a:r>
            <a:r>
              <a:rPr sz="680" b="0" i="0" spc="30">
                <a:solidFill>
                  <a:srgbClr val="6B6B6B"/>
                </a:solidFill>
                <a:latin typeface="Open Sans"/>
              </a:rPr>
              <a:t>  •  Prévenir, protéger, pérenniser</a:t>
            </a:r>
          </a:p>
        </p:txBody>
      </p:sp>
      <p:sp>
        <p:nvSpPr>
          <p:cNvPr id="60" name="Numéro de page"/>
          <p:cNvSpPr txBox="1"/>
          <p:nvPr/>
        </p:nvSpPr>
        <p:spPr>
          <a:xfrm>
            <a:off x="6874509" y="10400030"/>
            <a:ext cx="254000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680" b="1" i="0">
                <a:solidFill>
                  <a:srgbClr val="26408F"/>
                </a:solidFill>
                <a:latin typeface="Open Sans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