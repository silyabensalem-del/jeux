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 EDLC" descr="logo_edlc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330200"/>
            <a:ext cx="1498600" cy="443372"/>
          </a:xfrm>
          <a:prstGeom prst="rect">
            <a:avLst/>
          </a:prstGeom>
        </p:spPr>
      </p:pic>
      <p:sp>
        <p:nvSpPr>
          <p:cNvPr id="3" name="Bloc 20 – fond bleu pâle"/>
          <p:cNvSpPr/>
          <p:nvPr/>
        </p:nvSpPr>
        <p:spPr>
          <a:xfrm>
            <a:off x="431800" y="965200"/>
            <a:ext cx="6696709" cy="3175000"/>
          </a:xfrm>
          <a:prstGeom prst="roundRect">
            <a:avLst>
              <a:gd name="adj" fmla="val 6400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itre – save the date"/>
          <p:cNvSpPr txBox="1"/>
          <p:nvPr/>
        </p:nvSpPr>
        <p:spPr>
          <a:xfrm>
            <a:off x="431800" y="4368800"/>
            <a:ext cx="669670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6408F"/>
                </a:solidFill>
                <a:latin typeface="Poppins"/>
              </a:rPr>
              <a:t>SAVE THE DATE</a:t>
            </a:r>
          </a:p>
        </p:txBody>
      </p:sp>
      <p:sp>
        <p:nvSpPr>
          <p:cNvPr id="5" name="Titre – 20 ans d’engagement"/>
          <p:cNvSpPr txBox="1"/>
          <p:nvPr/>
        </p:nvSpPr>
        <p:spPr>
          <a:xfrm>
            <a:off x="431800" y="4851400"/>
            <a:ext cx="6696709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F3F34"/>
                </a:solidFill>
                <a:latin typeface="Poppins"/>
              </a:rPr>
              <a:t>20 ANS D’ENGAGEMENT !</a:t>
            </a:r>
          </a:p>
        </p:txBody>
      </p:sp>
      <p:sp>
        <p:nvSpPr>
          <p:cNvPr id="6" name="Invitation – texte"/>
          <p:cNvSpPr txBox="1"/>
          <p:nvPr/>
        </p:nvSpPr>
        <p:spPr>
          <a:xfrm>
            <a:off x="787400" y="5384800"/>
            <a:ext cx="5985509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Open Sans"/>
              </a:rPr>
              <a:t>La Fondation Entrepreneurs de la Cité a le plaisir de vous inviter à sa soirée anniversaire : Retour sur 20 ans d’engagement auprès des entrepreneurs vulnérables à travers l’assurance sociale et solidaire. Au programme : Rétrospective en images, invités de prestige et projection vers l’avenir... une soirée à ne pas manquer !</a:t>
            </a:r>
          </a:p>
        </p:txBody>
      </p:sp>
      <p:sp>
        <p:nvSpPr>
          <p:cNvPr id="7" name="Case date – fond"/>
          <p:cNvSpPr/>
          <p:nvPr/>
        </p:nvSpPr>
        <p:spPr>
          <a:xfrm>
            <a:off x="431800" y="6578600"/>
            <a:ext cx="3291204" cy="1168400"/>
          </a:xfrm>
          <a:prstGeom prst="roundRect">
            <a:avLst>
              <a:gd name="adj" fmla="val 13043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Date – jour"/>
          <p:cNvSpPr txBox="1"/>
          <p:nvPr/>
        </p:nvSpPr>
        <p:spPr>
          <a:xfrm>
            <a:off x="1168400" y="6731000"/>
            <a:ext cx="152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120">
                <a:solidFill>
                  <a:srgbClr val="26408F"/>
                </a:solidFill>
                <a:latin typeface="Open Sans"/>
              </a:rPr>
              <a:t>Mardi</a:t>
            </a:r>
          </a:p>
        </p:txBody>
      </p:sp>
      <p:sp>
        <p:nvSpPr>
          <p:cNvPr id="9" name="Date – 15"/>
          <p:cNvSpPr txBox="1"/>
          <p:nvPr/>
        </p:nvSpPr>
        <p:spPr>
          <a:xfrm>
            <a:off x="1117600" y="6908800"/>
            <a:ext cx="1016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6408F"/>
                </a:solidFill>
                <a:latin typeface="Poppins"/>
              </a:rPr>
              <a:t>15</a:t>
            </a:r>
          </a:p>
        </p:txBody>
      </p:sp>
      <p:sp>
        <p:nvSpPr>
          <p:cNvPr id="10" name="Date – mois"/>
          <p:cNvSpPr txBox="1"/>
          <p:nvPr/>
        </p:nvSpPr>
        <p:spPr>
          <a:xfrm>
            <a:off x="2057400" y="7162800"/>
            <a:ext cx="15240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6408F"/>
                </a:solidFill>
                <a:latin typeface="Poppins"/>
              </a:rPr>
              <a:t>juin 2027</a:t>
            </a:r>
          </a:p>
        </p:txBody>
      </p:sp>
      <p:sp>
        <p:nvSpPr>
          <p:cNvPr id="11" name="Case heure – fond"/>
          <p:cNvSpPr/>
          <p:nvPr/>
        </p:nvSpPr>
        <p:spPr>
          <a:xfrm>
            <a:off x="3837304" y="6578600"/>
            <a:ext cx="3291204" cy="1168400"/>
          </a:xfrm>
          <a:prstGeom prst="roundRect">
            <a:avLst>
              <a:gd name="adj" fmla="val 13043"/>
            </a:avLst>
          </a:prstGeom>
          <a:solidFill>
            <a:srgbClr val="FDE8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Heure"/>
          <p:cNvSpPr txBox="1"/>
          <p:nvPr/>
        </p:nvSpPr>
        <p:spPr>
          <a:xfrm>
            <a:off x="3837304" y="6578600"/>
            <a:ext cx="3291204" cy="1168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F3F34"/>
                </a:solidFill>
                <a:latin typeface="Poppins"/>
              </a:rPr>
              <a:t>18H30</a:t>
            </a:r>
          </a:p>
        </p:txBody>
      </p:sp>
      <p:sp>
        <p:nvSpPr>
          <p:cNvPr id="13" name="Case lieu – fond"/>
          <p:cNvSpPr/>
          <p:nvPr/>
        </p:nvSpPr>
        <p:spPr>
          <a:xfrm>
            <a:off x="431800" y="7861300"/>
            <a:ext cx="6696709" cy="558800"/>
          </a:xfrm>
          <a:prstGeom prst="roundRect">
            <a:avLst>
              <a:gd name="adj" fmla="val 27272"/>
            </a:avLst>
          </a:prstGeom>
          <a:solidFill>
            <a:srgbClr val="FEEFD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Picto adresse – pointe"/>
          <p:cNvSpPr/>
          <p:nvPr/>
        </p:nvSpPr>
        <p:spPr>
          <a:xfrm>
            <a:off x="1619758" y="8115934"/>
            <a:ext cx="100584" cy="104775"/>
          </a:xfrm>
          <a:prstGeom prst="flowChartMerge">
            <a:avLst/>
          </a:prstGeom>
          <a:solidFill>
            <a:srgbClr val="F894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cto adresse – tête"/>
          <p:cNvSpPr/>
          <p:nvPr/>
        </p:nvSpPr>
        <p:spPr>
          <a:xfrm>
            <a:off x="1600200" y="8039100"/>
            <a:ext cx="139700" cy="139700"/>
          </a:xfrm>
          <a:prstGeom prst="ellipse">
            <a:avLst/>
          </a:prstGeom>
          <a:solidFill>
            <a:srgbClr val="F894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icto adresse – centre"/>
          <p:cNvSpPr/>
          <p:nvPr/>
        </p:nvSpPr>
        <p:spPr>
          <a:xfrm>
            <a:off x="1642110" y="8081009"/>
            <a:ext cx="55880" cy="55880"/>
          </a:xfrm>
          <a:prstGeom prst="ellipse">
            <a:avLst/>
          </a:prstGeom>
          <a:solidFill>
            <a:srgbClr val="FEEF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ieu"/>
          <p:cNvSpPr txBox="1"/>
          <p:nvPr/>
        </p:nvSpPr>
        <p:spPr>
          <a:xfrm>
            <a:off x="1854200" y="7861300"/>
            <a:ext cx="5045709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26408F"/>
                </a:solidFill>
                <a:latin typeface="Open Sans"/>
              </a:rPr>
              <a:t>Le Philanthro-Lab, 13-15 rue de la Bûcherie, 75005 Paris</a:t>
            </a:r>
          </a:p>
        </p:txBody>
      </p:sp>
      <p:sp>
        <p:nvSpPr>
          <p:cNvPr id="18" name="Animation"/>
          <p:cNvSpPr txBox="1"/>
          <p:nvPr/>
        </p:nvSpPr>
        <p:spPr>
          <a:xfrm>
            <a:off x="431800" y="8547100"/>
            <a:ext cx="6696709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Open Sans"/>
              </a:rPr>
              <a:t>Soirée animée par Jean-Luc Gambey associé à Vovoxx Média</a:t>
            </a:r>
          </a:p>
        </p:txBody>
      </p:sp>
      <p:sp>
        <p:nvSpPr>
          <p:cNvPr id="19" name="Inscription – fond bleu"/>
          <p:cNvSpPr/>
          <p:nvPr/>
        </p:nvSpPr>
        <p:spPr>
          <a:xfrm>
            <a:off x="431800" y="8890000"/>
            <a:ext cx="6696709" cy="1397000"/>
          </a:xfrm>
          <a:prstGeom prst="roundRect">
            <a:avLst>
              <a:gd name="adj" fmla="val 12727"/>
            </a:avLst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Inscription – titre"/>
          <p:cNvSpPr txBox="1"/>
          <p:nvPr/>
        </p:nvSpPr>
        <p:spPr>
          <a:xfrm>
            <a:off x="736600" y="9220200"/>
            <a:ext cx="4191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Inscription</a:t>
            </a:r>
          </a:p>
        </p:txBody>
      </p:sp>
      <p:sp>
        <p:nvSpPr>
          <p:cNvPr id="21" name="Inscription – trait"/>
          <p:cNvSpPr/>
          <p:nvPr/>
        </p:nvSpPr>
        <p:spPr>
          <a:xfrm>
            <a:off x="736600" y="9626600"/>
            <a:ext cx="3556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Inscription – texte"/>
          <p:cNvSpPr txBox="1"/>
          <p:nvPr/>
        </p:nvSpPr>
        <p:spPr>
          <a:xfrm>
            <a:off x="736600" y="9779000"/>
            <a:ext cx="4191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Open Sans"/>
              </a:rPr>
              <a:t>Cliquez </a:t>
            </a:r>
            <a:r>
              <a:rPr sz="1150" b="0" i="0" u="sng">
                <a:solidFill>
                  <a:srgbClr val="FFFFFF"/>
                </a:solidFill>
                <a:latin typeface="Open Sans"/>
              </a:rPr>
              <a:t>ici</a:t>
            </a:r>
            <a:r>
              <a:rPr sz="1150" b="0" i="0">
                <a:solidFill>
                  <a:srgbClr val="FFFFFF"/>
                </a:solidFill>
                <a:latin typeface="Open Sans"/>
              </a:rPr>
              <a:t> ou scannez ce QR code :</a:t>
            </a:r>
          </a:p>
        </p:txBody>
      </p:sp>
      <p:sp>
        <p:nvSpPr>
          <p:cNvPr id="23" name="QR – cadre blanc"/>
          <p:cNvSpPr/>
          <p:nvPr/>
        </p:nvSpPr>
        <p:spPr>
          <a:xfrm>
            <a:off x="5706109" y="9029700"/>
            <a:ext cx="1117600" cy="111760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